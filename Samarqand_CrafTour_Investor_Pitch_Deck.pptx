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Rectangle 1"/>
          <p:cNvSpPr/>
          <p:nvPr/>
        </p:nvSpPr>
        <p:spPr>
          <a:xfrm>
            <a:off x="365760" y="365760"/>
            <a:ext cx="11460175" cy="6126480"/>
          </a:xfrm>
          <a:prstGeom prst="rect">
            <a:avLst/>
          </a:prstGeom>
          <a:noFill/>
          <a:ln w="254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zbek_mandala.jpg"/>
          <p:cNvPicPr>
            <a:picLocks noChangeAspect="1"/>
          </p:cNvPicPr>
          <p:nvPr/>
        </p:nvPicPr>
        <p:blipFill>
          <a:blip r:embed="rId2"/>
          <a:stretch>
            <a:fillRect/>
          </a:stretch>
        </p:blipFill>
        <p:spPr>
          <a:xfrm>
            <a:off x="6858000" y="1143000"/>
            <a:ext cx="4572000" cy="4572000"/>
          </a:xfrm>
          <a:prstGeom prst="rect">
            <a:avLst/>
          </a:prstGeom>
        </p:spPr>
      </p:pic>
      <p:pic>
        <p:nvPicPr>
          <p:cNvPr id="4" name="Picture 3" descr="logo.jpg"/>
          <p:cNvPicPr>
            <a:picLocks noChangeAspect="1"/>
          </p:cNvPicPr>
          <p:nvPr/>
        </p:nvPicPr>
        <p:blipFill>
          <a:blip r:embed="rId3"/>
          <a:stretch>
            <a:fillRect/>
          </a:stretch>
        </p:blipFill>
        <p:spPr>
          <a:xfrm>
            <a:off x="914400" y="731520"/>
            <a:ext cx="1097280" cy="1097280"/>
          </a:xfrm>
          <a:prstGeom prst="rect">
            <a:avLst/>
          </a:prstGeom>
        </p:spPr>
      </p:pic>
      <p:sp>
        <p:nvSpPr>
          <p:cNvPr id="5" name="TextBox 4"/>
          <p:cNvSpPr txBox="1"/>
          <p:nvPr/>
        </p:nvSpPr>
        <p:spPr>
          <a:xfrm>
            <a:off x="914400" y="2103120"/>
            <a:ext cx="5669280" cy="3657600"/>
          </a:xfrm>
          <a:prstGeom prst="rect">
            <a:avLst/>
          </a:prstGeom>
          <a:noFill/>
        </p:spPr>
        <p:txBody>
          <a:bodyPr wrap="square" lIns="0" rIns="0" tIns="0" bIns="0">
            <a:spAutoFit/>
          </a:bodyPr>
          <a:lstStyle/>
          <a:p>
            <a:pPr algn="l">
              <a:defRPr sz="4600" b="1">
                <a:solidFill>
                  <a:srgbClr val="D4AF37"/>
                </a:solidFill>
                <a:latin typeface="Georgia"/>
              </a:defRPr>
            </a:pPr>
            <a:r>
              <a:t>SAMARQAND CRAFTOUR</a:t>
            </a:r>
          </a:p>
          <a:p>
            <a:pPr algn="l">
              <a:spcBef>
                <a:spcPts val="800"/>
              </a:spcBef>
              <a:defRPr sz="1800">
                <a:solidFill>
                  <a:srgbClr val="FFFFFF"/>
                </a:solidFill>
                <a:latin typeface="Segoe UI"/>
              </a:defRPr>
            </a:pPr>
            <a:r>
              <a:t>Moslashuvchan va Shaxsiy Turizm Platformasi</a:t>
            </a:r>
          </a:p>
          <a:p>
            <a:pPr algn="l">
              <a:spcBef>
                <a:spcPts val="1500"/>
              </a:spcBef>
              <a:defRPr sz="1300">
                <a:solidFill>
                  <a:srgbClr val="94A3B8"/>
                </a:solidFill>
                <a:latin typeface="Segoe UI"/>
              </a:defRPr>
            </a:pPr>
            <a:r>
              <a:t>Sayyohlar uchun interaktiv marshrut konstruktori va shaffof band qilish ekotizimi.</a:t>
            </a:r>
          </a:p>
        </p:txBody>
      </p:sp>
      <p:sp>
        <p:nvSpPr>
          <p:cNvPr id="6" name="TextBox 5"/>
          <p:cNvSpPr txBox="1"/>
          <p:nvPr/>
        </p:nvSpPr>
        <p:spPr>
          <a:xfrm>
            <a:off x="914400" y="5303520"/>
            <a:ext cx="5486400" cy="731520"/>
          </a:xfrm>
          <a:prstGeom prst="rect">
            <a:avLst/>
          </a:prstGeom>
          <a:noFill/>
        </p:spPr>
        <p:txBody>
          <a:bodyPr wrap="none">
            <a:spAutoFit/>
          </a:bodyPr>
          <a:lstStyle/>
          <a:p>
            <a:pPr>
              <a:defRPr sz="1100" b="1">
                <a:solidFill>
                  <a:srgbClr val="009B9E"/>
                </a:solidFill>
                <a:latin typeface="Segoe UI"/>
              </a:defRPr>
            </a:pPr>
            <a:r>
              <a:t>INVESTITSIYA TAQDIMOTI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pic>
        <p:nvPicPr>
          <p:cNvPr id="2" name="Picture 1" descr="uzbek_mandala.jpg"/>
          <p:cNvPicPr>
            <a:picLocks noChangeAspect="1"/>
          </p:cNvPicPr>
          <p:nvPr/>
        </p:nvPicPr>
        <p:blipFill>
          <a:blip r:embed="rId2"/>
          <a:stretch>
            <a:fillRect/>
          </a:stretch>
        </p:blipFill>
        <p:spPr>
          <a:xfrm>
            <a:off x="10058400" y="-914400"/>
            <a:ext cx="3200400" cy="3200400"/>
          </a:xfrm>
          <a:prstGeom prst="rect">
            <a:avLst/>
          </a:prstGeom>
        </p:spPr>
      </p:pic>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92240"/>
            <a:ext cx="9601200" cy="274320"/>
          </a:xfrm>
          <a:prstGeom prst="rect">
            <a:avLst/>
          </a:prstGeom>
          <a:noFill/>
        </p:spPr>
        <p:txBody>
          <a:bodyPr wrap="none" lIns="0" rIns="0" tIns="0" bIns="0">
            <a:spAutoFit/>
          </a:bodyPr>
          <a:lstStyle/>
          <a:p>
            <a:pPr>
              <a:defRPr sz="900" b="1">
                <a:solidFill>
                  <a:srgbClr val="475569"/>
                </a:solidFill>
                <a:latin typeface="Segoe UI"/>
              </a:defRPr>
            </a:pPr>
            <a:r>
              <a:t>SAMARQAND CRAFTOUR  |  INVESTITSIYA TAQDIMOTI 2026</a:t>
            </a:r>
          </a:p>
        </p:txBody>
      </p:sp>
      <p:pic>
        <p:nvPicPr>
          <p:cNvPr id="5" name="Picture 4" descr="logo.jpg"/>
          <p:cNvPicPr>
            <a:picLocks noChangeAspect="1"/>
          </p:cNvPicPr>
          <p:nvPr/>
        </p:nvPicPr>
        <p:blipFill>
          <a:blip r:embed="rId3"/>
          <a:stretch>
            <a:fillRect/>
          </a:stretch>
        </p:blipFill>
        <p:spPr>
          <a:xfrm>
            <a:off x="11430000" y="6309360"/>
            <a:ext cx="457200" cy="457200"/>
          </a:xfrm>
          <a:prstGeom prst="rect">
            <a:avLst/>
          </a:prstGeom>
        </p:spPr>
      </p:pic>
      <p:sp>
        <p:nvSpPr>
          <p:cNvPr id="6" name="TextBox 5"/>
          <p:cNvSpPr txBox="1"/>
          <p:nvPr/>
        </p:nvSpPr>
        <p:spPr>
          <a:xfrm>
            <a:off x="731520" y="457200"/>
            <a:ext cx="10728655" cy="731520"/>
          </a:xfrm>
          <a:prstGeom prst="rect">
            <a:avLst/>
          </a:prstGeom>
          <a:noFill/>
        </p:spPr>
        <p:txBody>
          <a:bodyPr wrap="square" lIns="0" rIns="0" tIns="0" bIns="0">
            <a:spAutoFit/>
          </a:bodyPr>
          <a:lstStyle/>
          <a:p>
            <a:pPr>
              <a:defRPr sz="3400" b="1">
                <a:solidFill>
                  <a:srgbClr val="D4AF37"/>
                </a:solidFill>
                <a:latin typeface="Georgia"/>
              </a:defRPr>
            </a:pPr>
            <a:r>
              <a:t>TURIZMDAGI ASOSIY MUAMMOLAR</a:t>
            </a:r>
          </a:p>
        </p:txBody>
      </p:sp>
      <p:sp>
        <p:nvSpPr>
          <p:cNvPr id="7" name="Rounded Rectangle 6"/>
          <p:cNvSpPr/>
          <p:nvPr/>
        </p:nvSpPr>
        <p:spPr>
          <a:xfrm>
            <a:off x="731520" y="1645920"/>
            <a:ext cx="32918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926080" cy="3749040"/>
          </a:xfrm>
          <a:prstGeom prst="rect">
            <a:avLst/>
          </a:prstGeom>
          <a:noFill/>
        </p:spPr>
        <p:txBody>
          <a:bodyPr wrap="square">
            <a:spAutoFit/>
          </a:bodyPr>
          <a:lstStyle/>
          <a:p>
            <a:pPr>
              <a:defRPr sz="2800" b="1">
                <a:solidFill>
                  <a:srgbClr val="009B9E"/>
                </a:solidFill>
                <a:latin typeface="Georgia"/>
              </a:defRPr>
            </a:pPr>
            <a:r>
              <a:t>01</a:t>
            </a:r>
          </a:p>
          <a:p>
            <a:pPr>
              <a:spcBef>
                <a:spcPts val="1000"/>
              </a:spcBef>
              <a:spcAft>
                <a:spcPts val="1000"/>
              </a:spcAft>
              <a:defRPr sz="1800" b="1">
                <a:solidFill>
                  <a:srgbClr val="D4AF37"/>
                </a:solidFill>
                <a:latin typeface="Georgia"/>
              </a:defRPr>
            </a:pPr>
            <a:r>
              <a:t>Turlar Qotib Qolganligi</a:t>
            </a:r>
          </a:p>
          <a:p>
            <a:pPr>
              <a:spcAft>
                <a:spcPts val="1000"/>
              </a:spcAft>
              <a:defRPr sz="1200">
                <a:solidFill>
                  <a:srgbClr val="94A3B8"/>
                </a:solidFill>
                <a:latin typeface="Segoe UI"/>
              </a:defRPr>
            </a:pPr>
            <a:r>
              <a:t>An'anaviy turpaketlar juda qattiq rejalashtirilgan. Zamonaviy sayyohlar tayyor shablonlardan charchagan va o'z marshrutlarini shaxsiy qiziqishlariga moslashni xohlashadi.</a:t>
            </a:r>
          </a:p>
          <a:p>
            <a:pPr>
              <a:defRPr sz="1100" i="1">
                <a:solidFill>
                  <a:srgbClr val="475569"/>
                </a:solidFill>
                <a:latin typeface="Segoe UI"/>
              </a:defRPr>
            </a:pPr>
            <a:r>
              <a:t>Tog'lar, hunarmandchilik ustaxonalari va gastronomik lokatsiyalar e'tibordan chetda qoladi.</a:t>
            </a:r>
          </a:p>
        </p:txBody>
      </p:sp>
      <p:sp>
        <p:nvSpPr>
          <p:cNvPr id="9" name="Rounded Rectangle 8"/>
          <p:cNvSpPr/>
          <p:nvPr/>
        </p:nvSpPr>
        <p:spPr>
          <a:xfrm>
            <a:off x="4389120" y="1645920"/>
            <a:ext cx="32918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828800"/>
            <a:ext cx="2926080" cy="3749040"/>
          </a:xfrm>
          <a:prstGeom prst="rect">
            <a:avLst/>
          </a:prstGeom>
          <a:noFill/>
        </p:spPr>
        <p:txBody>
          <a:bodyPr wrap="square">
            <a:spAutoFit/>
          </a:bodyPr>
          <a:lstStyle/>
          <a:p>
            <a:pPr>
              <a:defRPr sz="2800" b="1">
                <a:solidFill>
                  <a:srgbClr val="009B9E"/>
                </a:solidFill>
                <a:latin typeface="Georgia"/>
              </a:defRPr>
            </a:pPr>
            <a:r>
              <a:t>02</a:t>
            </a:r>
          </a:p>
          <a:p>
            <a:pPr>
              <a:spcBef>
                <a:spcPts val="1000"/>
              </a:spcBef>
              <a:spcAft>
                <a:spcPts val="1000"/>
              </a:spcAft>
              <a:defRPr sz="1800" b="1">
                <a:solidFill>
                  <a:srgbClr val="D4AF37"/>
                </a:solidFill>
                <a:latin typeface="Georgia"/>
              </a:defRPr>
            </a:pPr>
            <a:r>
              <a:t>Narxlar Shaffof Emasligi</a:t>
            </a:r>
          </a:p>
          <a:p>
            <a:pPr>
              <a:spcAft>
                <a:spcPts val="1000"/>
              </a:spcAft>
              <a:defRPr sz="1200">
                <a:solidFill>
                  <a:srgbClr val="94A3B8"/>
                </a:solidFill>
                <a:latin typeface="Segoe UI"/>
              </a:defRPr>
            </a:pPr>
            <a:r>
              <a:t>Gidlar va haydovchilar bozori tartibga solinmagan. Yashirin komissiyalar, narxlarning tez-tez o'zgarishi va sayyohlar uchun oldindan aniq xarajatlarni bilish imkoni yo'qligi.</a:t>
            </a:r>
          </a:p>
          <a:p>
            <a:pPr>
              <a:defRPr sz="1100" i="1">
                <a:solidFill>
                  <a:srgbClr val="475569"/>
                </a:solidFill>
                <a:latin typeface="Segoe UI"/>
              </a:defRPr>
            </a:pPr>
            <a:r>
              <a:t>Muzokaralar va narx ustida tortishuvlar sayohat sifatini pasaytiradi.</a:t>
            </a:r>
          </a:p>
        </p:txBody>
      </p:sp>
      <p:sp>
        <p:nvSpPr>
          <p:cNvPr id="11" name="Rounded Rectangle 10"/>
          <p:cNvSpPr/>
          <p:nvPr/>
        </p:nvSpPr>
        <p:spPr>
          <a:xfrm>
            <a:off x="8046720" y="1645920"/>
            <a:ext cx="32918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828800"/>
            <a:ext cx="2926080" cy="3749040"/>
          </a:xfrm>
          <a:prstGeom prst="rect">
            <a:avLst/>
          </a:prstGeom>
          <a:noFill/>
        </p:spPr>
        <p:txBody>
          <a:bodyPr wrap="square">
            <a:spAutoFit/>
          </a:bodyPr>
          <a:lstStyle/>
          <a:p>
            <a:pPr>
              <a:defRPr sz="2800" b="1">
                <a:solidFill>
                  <a:srgbClr val="009B9E"/>
                </a:solidFill>
                <a:latin typeface="Georgia"/>
              </a:defRPr>
            </a:pPr>
            <a:r>
              <a:t>03</a:t>
            </a:r>
          </a:p>
          <a:p>
            <a:pPr>
              <a:spcBef>
                <a:spcPts val="1000"/>
              </a:spcBef>
              <a:spcAft>
                <a:spcPts val="1000"/>
              </a:spcAft>
              <a:defRPr sz="1800" b="1">
                <a:solidFill>
                  <a:srgbClr val="D4AF37"/>
                </a:solidFill>
                <a:latin typeface="Georgia"/>
              </a:defRPr>
            </a:pPr>
            <a:r>
              <a:t>Ishonchli Band Qilish Muammosi</a:t>
            </a:r>
          </a:p>
          <a:p>
            <a:pPr>
              <a:spcAft>
                <a:spcPts val="1000"/>
              </a:spcAft>
              <a:defRPr sz="1200">
                <a:solidFill>
                  <a:srgbClr val="94A3B8"/>
                </a:solidFill>
                <a:latin typeface="Segoe UI"/>
              </a:defRPr>
            </a:pPr>
            <a:r>
              <a:t>Professional tillarni biluvchi sertifikatlangan gidlar va tajribali haydovchilarni oldindan bitta platformada xavfsiz va kafolatlangan holda band qilish imkoniyati yo'q.</a:t>
            </a:r>
          </a:p>
          <a:p>
            <a:pPr>
              <a:defRPr sz="1100" i="1">
                <a:solidFill>
                  <a:srgbClr val="475569"/>
                </a:solidFill>
                <a:latin typeface="Segoe UI"/>
              </a:defRPr>
            </a:pPr>
            <a:r>
              <a:t>Kutilmagan bekor qilishlar va sifatsiz xizmat ko'rsatish xavfi yuqori.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pic>
        <p:nvPicPr>
          <p:cNvPr id="2" name="Picture 1" descr="uzbek_mandala.jpg"/>
          <p:cNvPicPr>
            <a:picLocks noChangeAspect="1"/>
          </p:cNvPicPr>
          <p:nvPr/>
        </p:nvPicPr>
        <p:blipFill>
          <a:blip r:embed="rId2"/>
          <a:stretch>
            <a:fillRect/>
          </a:stretch>
        </p:blipFill>
        <p:spPr>
          <a:xfrm>
            <a:off x="10058400" y="-914400"/>
            <a:ext cx="3200400" cy="3200400"/>
          </a:xfrm>
          <a:prstGeom prst="rect">
            <a:avLst/>
          </a:prstGeom>
        </p:spPr>
      </p:pic>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92240"/>
            <a:ext cx="9601200" cy="274320"/>
          </a:xfrm>
          <a:prstGeom prst="rect">
            <a:avLst/>
          </a:prstGeom>
          <a:noFill/>
        </p:spPr>
        <p:txBody>
          <a:bodyPr wrap="none" lIns="0" rIns="0" tIns="0" bIns="0">
            <a:spAutoFit/>
          </a:bodyPr>
          <a:lstStyle/>
          <a:p>
            <a:pPr>
              <a:defRPr sz="900" b="1">
                <a:solidFill>
                  <a:srgbClr val="475569"/>
                </a:solidFill>
                <a:latin typeface="Segoe UI"/>
              </a:defRPr>
            </a:pPr>
            <a:r>
              <a:t>SAMARQAND CRAFTOUR  |  INVESTITSIYA TAQDIMOTI 2026</a:t>
            </a:r>
          </a:p>
        </p:txBody>
      </p:sp>
      <p:pic>
        <p:nvPicPr>
          <p:cNvPr id="5" name="Picture 4" descr="logo.jpg"/>
          <p:cNvPicPr>
            <a:picLocks noChangeAspect="1"/>
          </p:cNvPicPr>
          <p:nvPr/>
        </p:nvPicPr>
        <p:blipFill>
          <a:blip r:embed="rId3"/>
          <a:stretch>
            <a:fillRect/>
          </a:stretch>
        </p:blipFill>
        <p:spPr>
          <a:xfrm>
            <a:off x="11430000" y="6309360"/>
            <a:ext cx="457200" cy="457200"/>
          </a:xfrm>
          <a:prstGeom prst="rect">
            <a:avLst/>
          </a:prstGeom>
        </p:spPr>
      </p:pic>
      <p:sp>
        <p:nvSpPr>
          <p:cNvPr id="6" name="TextBox 5"/>
          <p:cNvSpPr txBox="1"/>
          <p:nvPr/>
        </p:nvSpPr>
        <p:spPr>
          <a:xfrm>
            <a:off x="731520" y="457200"/>
            <a:ext cx="10728655" cy="731520"/>
          </a:xfrm>
          <a:prstGeom prst="rect">
            <a:avLst/>
          </a:prstGeom>
          <a:noFill/>
        </p:spPr>
        <p:txBody>
          <a:bodyPr wrap="square" lIns="0" rIns="0" tIns="0" bIns="0">
            <a:spAutoFit/>
          </a:bodyPr>
          <a:lstStyle/>
          <a:p>
            <a:pPr>
              <a:defRPr sz="3400" b="1">
                <a:solidFill>
                  <a:srgbClr val="D4AF37"/>
                </a:solidFill>
                <a:latin typeface="Georgia"/>
              </a:defRPr>
            </a:pPr>
            <a:r>
              <a:t>YECHIM: SAMARQAND CRAFTOUR PLATFORMASI</a:t>
            </a:r>
          </a:p>
        </p:txBody>
      </p:sp>
      <p:sp>
        <p:nvSpPr>
          <p:cNvPr id="7" name="TextBox 6"/>
          <p:cNvSpPr txBox="1"/>
          <p:nvPr/>
        </p:nvSpPr>
        <p:spPr>
          <a:xfrm>
            <a:off x="731520" y="1645920"/>
            <a:ext cx="4114800" cy="4114800"/>
          </a:xfrm>
          <a:prstGeom prst="rect">
            <a:avLst/>
          </a:prstGeom>
          <a:noFill/>
        </p:spPr>
        <p:txBody>
          <a:bodyPr wrap="square">
            <a:spAutoFit/>
          </a:bodyPr>
          <a:lstStyle/>
          <a:p>
            <a:pPr>
              <a:spcAft>
                <a:spcPts val="1500"/>
              </a:spcAft>
              <a:defRPr sz="2600" b="1">
                <a:solidFill>
                  <a:srgbClr val="FFFFFF"/>
                </a:solidFill>
                <a:latin typeface="Georgia"/>
              </a:defRPr>
            </a:pPr>
            <a:r>
              <a:t>Biz sayyohlarga to'liq erkinlik va shaffoflik beramiz.</a:t>
            </a:r>
          </a:p>
          <a:p>
            <a:pPr>
              <a:spcAft>
                <a:spcPts val="1500"/>
              </a:spcAft>
              <a:defRPr sz="1400">
                <a:solidFill>
                  <a:srgbClr val="94A3B8"/>
                </a:solidFill>
                <a:latin typeface="Segoe UI"/>
              </a:defRPr>
            </a:pPr>
            <a:r>
              <a:t>Samarqand CrafTour — bu shunchaki gid yoki mashina buyurtma qilish ilovasi emas. Bu sayyohlarning shaxsiy qiziqishlariga moslashuvchan, real vaqt rejimida ishlovchi aqlli sayohat konstruktoridir.</a:t>
            </a:r>
          </a:p>
          <a:p>
            <a:pPr>
              <a:defRPr sz="1300">
                <a:solidFill>
                  <a:srgbClr val="009B9E"/>
                </a:solidFill>
                <a:latin typeface="Segoe UI"/>
              </a:defRPr>
            </a:pPr>
            <a:r>
              <a:t>Sayyoh o'z sayohatini xuddi 'Lego' g'ishtchalari kabi mustaqil teradi va yakuniy narxni soniyalarda ko'radi.</a:t>
            </a:r>
          </a:p>
        </p:txBody>
      </p:sp>
      <p:sp>
        <p:nvSpPr>
          <p:cNvPr id="8" name="Rounded Rectangle 7"/>
          <p:cNvSpPr/>
          <p:nvPr/>
        </p:nvSpPr>
        <p:spPr>
          <a:xfrm>
            <a:off x="5303520" y="1645920"/>
            <a:ext cx="6126480" cy="118872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0" y="1737360"/>
            <a:ext cx="5760720" cy="1005840"/>
          </a:xfrm>
          <a:prstGeom prst="rect">
            <a:avLst/>
          </a:prstGeom>
          <a:noFill/>
        </p:spPr>
        <p:txBody>
          <a:bodyPr wrap="square">
            <a:spAutoFit/>
          </a:bodyPr>
          <a:lstStyle/>
          <a:p>
            <a:pPr>
              <a:defRPr sz="1600" b="1">
                <a:solidFill>
                  <a:srgbClr val="D4AF37"/>
                </a:solidFill>
                <a:latin typeface="Georgia"/>
              </a:defRPr>
            </a:pPr>
            <a:r>
              <a:t>🗺 Interaktiv Marshrut Quruvchi</a:t>
            </a:r>
          </a:p>
          <a:p>
            <a:pPr>
              <a:spcBef>
                <a:spcPts val="400"/>
              </a:spcBef>
              <a:defRPr sz="1150">
                <a:solidFill>
                  <a:srgbClr val="94A3B8"/>
                </a:solidFill>
                <a:latin typeface="Segoe UI"/>
              </a:defRPr>
            </a:pPr>
            <a:r>
              <a:t>Tarixiy maskanlar (Registon, Shohi Zinda), tabiat (Omonqo'ton dovoni) va gastronomiyani (Osh markazlari) birlashtiruvchi interaktiv xarita.</a:t>
            </a:r>
          </a:p>
        </p:txBody>
      </p:sp>
      <p:sp>
        <p:nvSpPr>
          <p:cNvPr id="10" name="Rounded Rectangle 9"/>
          <p:cNvSpPr/>
          <p:nvPr/>
        </p:nvSpPr>
        <p:spPr>
          <a:xfrm>
            <a:off x="5303520" y="3017520"/>
            <a:ext cx="6126480" cy="118872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0" y="3108960"/>
            <a:ext cx="5760720" cy="1005840"/>
          </a:xfrm>
          <a:prstGeom prst="rect">
            <a:avLst/>
          </a:prstGeom>
          <a:noFill/>
        </p:spPr>
        <p:txBody>
          <a:bodyPr wrap="square">
            <a:spAutoFit/>
          </a:bodyPr>
          <a:lstStyle/>
          <a:p>
            <a:pPr>
              <a:defRPr sz="1600" b="1">
                <a:solidFill>
                  <a:srgbClr val="D4AF37"/>
                </a:solidFill>
                <a:latin typeface="Georgia"/>
              </a:defRPr>
            </a:pPr>
            <a:r>
              <a:t>🚗 Shaffof Narxlar va Avtomatik Hisob</a:t>
            </a:r>
          </a:p>
          <a:p>
            <a:pPr>
              <a:spcBef>
                <a:spcPts val="400"/>
              </a:spcBef>
              <a:defRPr sz="1150">
                <a:solidFill>
                  <a:srgbClr val="94A3B8"/>
                </a:solidFill>
                <a:latin typeface="Segoe UI"/>
              </a:defRPr>
            </a:pPr>
            <a:r>
              <a:t>Yashirin komissiyalarsiz real vaqtda transport turi va gid tillari (En, Ru, Es, Fr, Uz) tariflari asosida narxni avtomatik hisoblash.</a:t>
            </a:r>
          </a:p>
        </p:txBody>
      </p:sp>
      <p:sp>
        <p:nvSpPr>
          <p:cNvPr id="12" name="Rounded Rectangle 11"/>
          <p:cNvSpPr/>
          <p:nvPr/>
        </p:nvSpPr>
        <p:spPr>
          <a:xfrm>
            <a:off x="5303520" y="4389120"/>
            <a:ext cx="6126480" cy="118872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0" y="4480560"/>
            <a:ext cx="5760720" cy="1005840"/>
          </a:xfrm>
          <a:prstGeom prst="rect">
            <a:avLst/>
          </a:prstGeom>
          <a:noFill/>
        </p:spPr>
        <p:txBody>
          <a:bodyPr wrap="square">
            <a:spAutoFit/>
          </a:bodyPr>
          <a:lstStyle/>
          <a:p>
            <a:pPr>
              <a:defRPr sz="1600" b="1">
                <a:solidFill>
                  <a:srgbClr val="D4AF37"/>
                </a:solidFill>
                <a:latin typeface="Georgia"/>
              </a:defRPr>
            </a:pPr>
            <a:r>
              <a:t>👤 Tezkor OTP Tasdiqlash va Kafolat</a:t>
            </a:r>
          </a:p>
          <a:p>
            <a:pPr>
              <a:spcBef>
                <a:spcPts val="400"/>
              </a:spcBef>
              <a:defRPr sz="1150">
                <a:solidFill>
                  <a:srgbClr val="94A3B8"/>
                </a:solidFill>
                <a:latin typeface="Segoe UI"/>
              </a:defRPr>
            </a:pPr>
            <a:r>
              <a:t>Email yoki WhatsApp orqali bir lahzada OTP kod bilan tasdiqlash va sayohatni muvofiqlashtiruvchi boshqaruv tizimi.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pic>
        <p:nvPicPr>
          <p:cNvPr id="2" name="Picture 1" descr="uzbek_mandala.jpg"/>
          <p:cNvPicPr>
            <a:picLocks noChangeAspect="1"/>
          </p:cNvPicPr>
          <p:nvPr/>
        </p:nvPicPr>
        <p:blipFill>
          <a:blip r:embed="rId2"/>
          <a:stretch>
            <a:fillRect/>
          </a:stretch>
        </p:blipFill>
        <p:spPr>
          <a:xfrm>
            <a:off x="10058400" y="-914400"/>
            <a:ext cx="3200400" cy="3200400"/>
          </a:xfrm>
          <a:prstGeom prst="rect">
            <a:avLst/>
          </a:prstGeom>
        </p:spPr>
      </p:pic>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92240"/>
            <a:ext cx="9601200" cy="274320"/>
          </a:xfrm>
          <a:prstGeom prst="rect">
            <a:avLst/>
          </a:prstGeom>
          <a:noFill/>
        </p:spPr>
        <p:txBody>
          <a:bodyPr wrap="none" lIns="0" rIns="0" tIns="0" bIns="0">
            <a:spAutoFit/>
          </a:bodyPr>
          <a:lstStyle/>
          <a:p>
            <a:pPr>
              <a:defRPr sz="900" b="1">
                <a:solidFill>
                  <a:srgbClr val="475569"/>
                </a:solidFill>
                <a:latin typeface="Segoe UI"/>
              </a:defRPr>
            </a:pPr>
            <a:r>
              <a:t>SAMARQAND CRAFTOUR  |  INVESTITSIYA TAQDIMOTI 2026</a:t>
            </a:r>
          </a:p>
        </p:txBody>
      </p:sp>
      <p:pic>
        <p:nvPicPr>
          <p:cNvPr id="5" name="Picture 4" descr="logo.jpg"/>
          <p:cNvPicPr>
            <a:picLocks noChangeAspect="1"/>
          </p:cNvPicPr>
          <p:nvPr/>
        </p:nvPicPr>
        <p:blipFill>
          <a:blip r:embed="rId3"/>
          <a:stretch>
            <a:fillRect/>
          </a:stretch>
        </p:blipFill>
        <p:spPr>
          <a:xfrm>
            <a:off x="11430000" y="6309360"/>
            <a:ext cx="457200" cy="457200"/>
          </a:xfrm>
          <a:prstGeom prst="rect">
            <a:avLst/>
          </a:prstGeom>
        </p:spPr>
      </p:pic>
      <p:sp>
        <p:nvSpPr>
          <p:cNvPr id="6" name="TextBox 5"/>
          <p:cNvSpPr txBox="1"/>
          <p:nvPr/>
        </p:nvSpPr>
        <p:spPr>
          <a:xfrm>
            <a:off x="731520" y="457200"/>
            <a:ext cx="10728655" cy="731520"/>
          </a:xfrm>
          <a:prstGeom prst="rect">
            <a:avLst/>
          </a:prstGeom>
          <a:noFill/>
        </p:spPr>
        <p:txBody>
          <a:bodyPr wrap="square" lIns="0" rIns="0" tIns="0" bIns="0">
            <a:spAutoFit/>
          </a:bodyPr>
          <a:lstStyle/>
          <a:p>
            <a:pPr>
              <a:defRPr sz="3400" b="1">
                <a:solidFill>
                  <a:srgbClr val="D4AF37"/>
                </a:solidFill>
                <a:latin typeface="Georgia"/>
              </a:defRPr>
            </a:pPr>
            <a:r>
              <a:t>MAHSULOT DEMOTSIYASI: 4 TA ODDIY QADAM</a:t>
            </a:r>
          </a:p>
        </p:txBody>
      </p:sp>
      <p:sp>
        <p:nvSpPr>
          <p:cNvPr id="7" name="Rounded Rectangle 6"/>
          <p:cNvSpPr/>
          <p:nvPr/>
        </p:nvSpPr>
        <p:spPr>
          <a:xfrm>
            <a:off x="731520" y="1645920"/>
            <a:ext cx="23774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828800"/>
            <a:ext cx="2103120" cy="3749040"/>
          </a:xfrm>
          <a:prstGeom prst="rect">
            <a:avLst/>
          </a:prstGeom>
          <a:noFill/>
        </p:spPr>
        <p:txBody>
          <a:bodyPr wrap="square">
            <a:spAutoFit/>
          </a:bodyPr>
          <a:lstStyle/>
          <a:p>
            <a:pPr algn="ctr">
              <a:defRPr sz="1100" b="1">
                <a:solidFill>
                  <a:srgbClr val="009B9E"/>
                </a:solidFill>
                <a:latin typeface="Segoe UI"/>
              </a:defRPr>
            </a:pPr>
            <a:r>
              <a:t>1-QADAM</a:t>
            </a:r>
          </a:p>
          <a:p>
            <a:pPr algn="ctr">
              <a:spcBef>
                <a:spcPts val="1500"/>
              </a:spcBef>
              <a:spcAft>
                <a:spcPts val="1500"/>
              </a:spcAft>
              <a:defRPr sz="4000"/>
            </a:pPr>
            <a:r>
              <a:t>🗺</a:t>
            </a:r>
          </a:p>
          <a:p>
            <a:pPr algn="ctr">
              <a:spcAft>
                <a:spcPts val="1000"/>
              </a:spcAft>
              <a:defRPr sz="1600" b="1">
                <a:solidFill>
                  <a:srgbClr val="D4AF37"/>
                </a:solidFill>
                <a:latin typeface="Georgia"/>
              </a:defRPr>
            </a:pPr>
            <a:r>
              <a:t>Marshrut Tuzish</a:t>
            </a:r>
          </a:p>
          <a:p>
            <a:pPr algn="ctr">
              <a:defRPr sz="1100">
                <a:solidFill>
                  <a:srgbClr val="94A3B8"/>
                </a:solidFill>
                <a:latin typeface="Segoe UI"/>
              </a:defRPr>
            </a:pPr>
            <a:r>
              <a:t>Sayyoh Registon, Shohi Zinda, Konigil eko-qishlog'i va tog'larni xaritadan tanlab, o'z yo'nalishini belgilaydi.</a:t>
            </a:r>
          </a:p>
        </p:txBody>
      </p:sp>
      <p:sp>
        <p:nvSpPr>
          <p:cNvPr id="9" name="Rounded Rectangle 8"/>
          <p:cNvSpPr/>
          <p:nvPr/>
        </p:nvSpPr>
        <p:spPr>
          <a:xfrm>
            <a:off x="3383280" y="1645920"/>
            <a:ext cx="23774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828800"/>
            <a:ext cx="2103120" cy="3749040"/>
          </a:xfrm>
          <a:prstGeom prst="rect">
            <a:avLst/>
          </a:prstGeom>
          <a:noFill/>
        </p:spPr>
        <p:txBody>
          <a:bodyPr wrap="square">
            <a:spAutoFit/>
          </a:bodyPr>
          <a:lstStyle/>
          <a:p>
            <a:pPr algn="ctr">
              <a:defRPr sz="1100" b="1">
                <a:solidFill>
                  <a:srgbClr val="009B9E"/>
                </a:solidFill>
                <a:latin typeface="Segoe UI"/>
              </a:defRPr>
            </a:pPr>
            <a:r>
              <a:t>2-QADAM</a:t>
            </a:r>
          </a:p>
          <a:p>
            <a:pPr algn="ctr">
              <a:spcBef>
                <a:spcPts val="1500"/>
              </a:spcBef>
              <a:spcAft>
                <a:spcPts val="1500"/>
              </a:spcAft>
              <a:defRPr sz="4000"/>
            </a:pPr>
            <a:r>
              <a:t>🚗</a:t>
            </a:r>
          </a:p>
          <a:p>
            <a:pPr algn="ctr">
              <a:spcAft>
                <a:spcPts val="1000"/>
              </a:spcAft>
              <a:defRPr sz="1600" b="1">
                <a:solidFill>
                  <a:srgbClr val="D4AF37"/>
                </a:solidFill>
                <a:latin typeface="Georgia"/>
              </a:defRPr>
            </a:pPr>
            <a:r>
              <a:t>Transport Tanlash</a:t>
            </a:r>
          </a:p>
          <a:p>
            <a:pPr algn="ctr">
              <a:defRPr sz="1100">
                <a:solidFill>
                  <a:srgbClr val="94A3B8"/>
                </a:solidFill>
                <a:latin typeface="Segoe UI"/>
              </a:defRPr>
            </a:pPr>
            <a:r>
              <a:t>Cobalt, Gentra, Minivan yoki katta sayyohlar guruhi uchun Isuzu avtobuslarini sig'im va narx bo'yicha tanlaydi.</a:t>
            </a:r>
          </a:p>
        </p:txBody>
      </p:sp>
      <p:sp>
        <p:nvSpPr>
          <p:cNvPr id="11" name="Rounded Rectangle 10"/>
          <p:cNvSpPr/>
          <p:nvPr/>
        </p:nvSpPr>
        <p:spPr>
          <a:xfrm>
            <a:off x="6035040" y="1645920"/>
            <a:ext cx="23774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828800"/>
            <a:ext cx="2103120" cy="3749040"/>
          </a:xfrm>
          <a:prstGeom prst="rect">
            <a:avLst/>
          </a:prstGeom>
          <a:noFill/>
        </p:spPr>
        <p:txBody>
          <a:bodyPr wrap="square">
            <a:spAutoFit/>
          </a:bodyPr>
          <a:lstStyle/>
          <a:p>
            <a:pPr algn="ctr">
              <a:defRPr sz="1100" b="1">
                <a:solidFill>
                  <a:srgbClr val="009B9E"/>
                </a:solidFill>
                <a:latin typeface="Segoe UI"/>
              </a:defRPr>
            </a:pPr>
            <a:r>
              <a:t>3-QADAM</a:t>
            </a:r>
          </a:p>
          <a:p>
            <a:pPr algn="ctr">
              <a:spcBef>
                <a:spcPts val="1500"/>
              </a:spcBef>
              <a:spcAft>
                <a:spcPts val="1500"/>
              </a:spcAft>
              <a:defRPr sz="4000"/>
            </a:pPr>
            <a:r>
              <a:t>🗣</a:t>
            </a:r>
          </a:p>
          <a:p>
            <a:pPr algn="ctr">
              <a:spcAft>
                <a:spcPts val="1000"/>
              </a:spcAft>
              <a:defRPr sz="1600" b="1">
                <a:solidFill>
                  <a:srgbClr val="D4AF37"/>
                </a:solidFill>
                <a:latin typeface="Georgia"/>
              </a:defRPr>
            </a:pPr>
            <a:r>
              <a:t>Gidni Tanlang</a:t>
            </a:r>
          </a:p>
          <a:p>
            <a:pPr algn="ctr">
              <a:defRPr sz="1100">
                <a:solidFill>
                  <a:srgbClr val="94A3B8"/>
                </a:solidFill>
                <a:latin typeface="Segoe UI"/>
              </a:defRPr>
            </a:pPr>
            <a:r>
              <a:t>Ingliz, rus, fransuz yoki ispan tillarida so'zlashuvchi gidlar ro'yxatidan o'ziga mosini tanlaydi.</a:t>
            </a:r>
          </a:p>
        </p:txBody>
      </p:sp>
      <p:sp>
        <p:nvSpPr>
          <p:cNvPr id="13" name="Rounded Rectangle 12"/>
          <p:cNvSpPr/>
          <p:nvPr/>
        </p:nvSpPr>
        <p:spPr>
          <a:xfrm>
            <a:off x="8686800" y="1645920"/>
            <a:ext cx="23774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23960" y="1828800"/>
            <a:ext cx="2103120" cy="3749040"/>
          </a:xfrm>
          <a:prstGeom prst="rect">
            <a:avLst/>
          </a:prstGeom>
          <a:noFill/>
        </p:spPr>
        <p:txBody>
          <a:bodyPr wrap="square">
            <a:spAutoFit/>
          </a:bodyPr>
          <a:lstStyle/>
          <a:p>
            <a:pPr algn="ctr">
              <a:defRPr sz="1100" b="1">
                <a:solidFill>
                  <a:srgbClr val="009B9E"/>
                </a:solidFill>
                <a:latin typeface="Segoe UI"/>
              </a:defRPr>
            </a:pPr>
            <a:r>
              <a:t>4-QADAM</a:t>
            </a:r>
          </a:p>
          <a:p>
            <a:pPr algn="ctr">
              <a:spcBef>
                <a:spcPts val="1500"/>
              </a:spcBef>
              <a:spcAft>
                <a:spcPts val="1500"/>
              </a:spcAft>
              <a:defRPr sz="4000"/>
            </a:pPr>
            <a:r>
              <a:t>👤</a:t>
            </a:r>
          </a:p>
          <a:p>
            <a:pPr algn="ctr">
              <a:spcAft>
                <a:spcPts val="1000"/>
              </a:spcAft>
              <a:defRPr sz="1600" b="1">
                <a:solidFill>
                  <a:srgbClr val="D4AF37"/>
                </a:solidFill>
                <a:latin typeface="Georgia"/>
              </a:defRPr>
            </a:pPr>
            <a:r>
              <a:t>OTP Tasdiqlash</a:t>
            </a:r>
          </a:p>
          <a:p>
            <a:pPr algn="ctr">
              <a:defRPr sz="1100">
                <a:solidFill>
                  <a:srgbClr val="94A3B8"/>
                </a:solidFill>
                <a:latin typeface="Segoe UI"/>
              </a:defRPr>
            </a:pPr>
            <a:r>
              <a:t>Aloqa ma'lumotlarini kiritadi. WhatsApp/Email orqali yuborilgan OTP kodni kiritib, buyurtmani darhol band qiladi.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pic>
        <p:nvPicPr>
          <p:cNvPr id="2" name="Picture 1" descr="uzbek_mandala.jpg"/>
          <p:cNvPicPr>
            <a:picLocks noChangeAspect="1"/>
          </p:cNvPicPr>
          <p:nvPr/>
        </p:nvPicPr>
        <p:blipFill>
          <a:blip r:embed="rId2"/>
          <a:stretch>
            <a:fillRect/>
          </a:stretch>
        </p:blipFill>
        <p:spPr>
          <a:xfrm>
            <a:off x="10058400" y="-914400"/>
            <a:ext cx="3200400" cy="3200400"/>
          </a:xfrm>
          <a:prstGeom prst="rect">
            <a:avLst/>
          </a:prstGeom>
        </p:spPr>
      </p:pic>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92240"/>
            <a:ext cx="9601200" cy="274320"/>
          </a:xfrm>
          <a:prstGeom prst="rect">
            <a:avLst/>
          </a:prstGeom>
          <a:noFill/>
        </p:spPr>
        <p:txBody>
          <a:bodyPr wrap="none" lIns="0" rIns="0" tIns="0" bIns="0">
            <a:spAutoFit/>
          </a:bodyPr>
          <a:lstStyle/>
          <a:p>
            <a:pPr>
              <a:defRPr sz="900" b="1">
                <a:solidFill>
                  <a:srgbClr val="475569"/>
                </a:solidFill>
                <a:latin typeface="Segoe UI"/>
              </a:defRPr>
            </a:pPr>
            <a:r>
              <a:t>SAMARQAND CRAFTOUR  |  INVESTITSIYA TAQDIMOTI 2026</a:t>
            </a:r>
          </a:p>
        </p:txBody>
      </p:sp>
      <p:pic>
        <p:nvPicPr>
          <p:cNvPr id="5" name="Picture 4" descr="logo.jpg"/>
          <p:cNvPicPr>
            <a:picLocks noChangeAspect="1"/>
          </p:cNvPicPr>
          <p:nvPr/>
        </p:nvPicPr>
        <p:blipFill>
          <a:blip r:embed="rId3"/>
          <a:stretch>
            <a:fillRect/>
          </a:stretch>
        </p:blipFill>
        <p:spPr>
          <a:xfrm>
            <a:off x="11430000" y="6309360"/>
            <a:ext cx="457200" cy="457200"/>
          </a:xfrm>
          <a:prstGeom prst="rect">
            <a:avLst/>
          </a:prstGeom>
        </p:spPr>
      </p:pic>
      <p:sp>
        <p:nvSpPr>
          <p:cNvPr id="6" name="TextBox 5"/>
          <p:cNvSpPr txBox="1"/>
          <p:nvPr/>
        </p:nvSpPr>
        <p:spPr>
          <a:xfrm>
            <a:off x="731520" y="457200"/>
            <a:ext cx="10728655" cy="731520"/>
          </a:xfrm>
          <a:prstGeom prst="rect">
            <a:avLst/>
          </a:prstGeom>
          <a:noFill/>
        </p:spPr>
        <p:txBody>
          <a:bodyPr wrap="square" lIns="0" rIns="0" tIns="0" bIns="0">
            <a:spAutoFit/>
          </a:bodyPr>
          <a:lstStyle/>
          <a:p>
            <a:pPr>
              <a:defRPr sz="3400" b="1">
                <a:solidFill>
                  <a:srgbClr val="D4AF37"/>
                </a:solidFill>
                <a:latin typeface="Georgia"/>
              </a:defRPr>
            </a:pPr>
            <a:r>
              <a:t>BOZOR IMKONIYATLARI VA O'SISH SUR'ATI</a:t>
            </a:r>
          </a:p>
        </p:txBody>
      </p:sp>
      <p:sp>
        <p:nvSpPr>
          <p:cNvPr id="7" name="Rounded Rectangle 6"/>
          <p:cNvSpPr/>
          <p:nvPr/>
        </p:nvSpPr>
        <p:spPr>
          <a:xfrm>
            <a:off x="731520" y="1645920"/>
            <a:ext cx="3291840" cy="2011680"/>
          </a:xfrm>
          <a:prstGeom prst="roundRect">
            <a:avLst/>
          </a:prstGeom>
          <a:solidFill>
            <a:srgbClr val="121A2F"/>
          </a:solidFill>
          <a:ln w="19050">
            <a:solidFill>
              <a:srgbClr val="009B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83080"/>
            <a:ext cx="2926080" cy="1737360"/>
          </a:xfrm>
          <a:prstGeom prst="rect">
            <a:avLst/>
          </a:prstGeom>
          <a:noFill/>
        </p:spPr>
        <p:txBody>
          <a:bodyPr wrap="square">
            <a:spAutoFit/>
          </a:bodyPr>
          <a:lstStyle/>
          <a:p>
            <a:pPr algn="ctr">
              <a:defRPr sz="4800" b="1">
                <a:solidFill>
                  <a:srgbClr val="D4AF37"/>
                </a:solidFill>
                <a:latin typeface="Georgia"/>
              </a:defRPr>
            </a:pPr>
            <a:r>
              <a:t>+45%</a:t>
            </a:r>
          </a:p>
          <a:p>
            <a:pPr algn="ctr">
              <a:spcBef>
                <a:spcPts val="500"/>
              </a:spcBef>
              <a:defRPr sz="1300" b="1">
                <a:solidFill>
                  <a:srgbClr val="FFFFFF"/>
                </a:solidFill>
                <a:latin typeface="Segoe UI"/>
              </a:defRPr>
            </a:pPr>
            <a:r>
              <a:t>Turizm Oqimining Yillik O'sishi</a:t>
            </a:r>
          </a:p>
        </p:txBody>
      </p:sp>
      <p:sp>
        <p:nvSpPr>
          <p:cNvPr id="9" name="Rounded Rectangle 8"/>
          <p:cNvSpPr/>
          <p:nvPr/>
        </p:nvSpPr>
        <p:spPr>
          <a:xfrm>
            <a:off x="4389120" y="1645920"/>
            <a:ext cx="3291840" cy="2011680"/>
          </a:xfrm>
          <a:prstGeom prst="roundRect">
            <a:avLst/>
          </a:prstGeom>
          <a:solidFill>
            <a:srgbClr val="121A2F"/>
          </a:solidFill>
          <a:ln w="19050">
            <a:solidFill>
              <a:srgbClr val="009B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783080"/>
            <a:ext cx="2926080" cy="1737360"/>
          </a:xfrm>
          <a:prstGeom prst="rect">
            <a:avLst/>
          </a:prstGeom>
          <a:noFill/>
        </p:spPr>
        <p:txBody>
          <a:bodyPr wrap="square">
            <a:spAutoFit/>
          </a:bodyPr>
          <a:lstStyle/>
          <a:p>
            <a:pPr algn="ctr">
              <a:defRPr sz="4800" b="1">
                <a:solidFill>
                  <a:srgbClr val="D4AF37"/>
                </a:solidFill>
                <a:latin typeface="Georgia"/>
              </a:defRPr>
            </a:pPr>
            <a:r>
              <a:t>68%</a:t>
            </a:r>
          </a:p>
          <a:p>
            <a:pPr algn="ctr">
              <a:spcBef>
                <a:spcPts val="500"/>
              </a:spcBef>
              <a:defRPr sz="1300" b="1">
                <a:solidFill>
                  <a:srgbClr val="FFFFFF"/>
                </a:solidFill>
                <a:latin typeface="Segoe UI"/>
              </a:defRPr>
            </a:pPr>
            <a:r>
              <a:t>Mustaqil Sayohatchilar Ulushi</a:t>
            </a:r>
          </a:p>
        </p:txBody>
      </p:sp>
      <p:sp>
        <p:nvSpPr>
          <p:cNvPr id="11" name="Rounded Rectangle 10"/>
          <p:cNvSpPr/>
          <p:nvPr/>
        </p:nvSpPr>
        <p:spPr>
          <a:xfrm>
            <a:off x="8046720" y="1645920"/>
            <a:ext cx="3291840" cy="2011680"/>
          </a:xfrm>
          <a:prstGeom prst="roundRect">
            <a:avLst/>
          </a:prstGeom>
          <a:solidFill>
            <a:srgbClr val="121A2F"/>
          </a:solidFill>
          <a:ln w="19050">
            <a:solidFill>
              <a:srgbClr val="009B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783080"/>
            <a:ext cx="2926080" cy="1737360"/>
          </a:xfrm>
          <a:prstGeom prst="rect">
            <a:avLst/>
          </a:prstGeom>
          <a:noFill/>
        </p:spPr>
        <p:txBody>
          <a:bodyPr wrap="square">
            <a:spAutoFit/>
          </a:bodyPr>
          <a:lstStyle/>
          <a:p>
            <a:pPr algn="ctr">
              <a:defRPr sz="4800" b="1">
                <a:solidFill>
                  <a:srgbClr val="D4AF37"/>
                </a:solidFill>
                <a:latin typeface="Georgia"/>
              </a:defRPr>
            </a:pPr>
            <a:r>
              <a:t>$1.2B+</a:t>
            </a:r>
          </a:p>
          <a:p>
            <a:pPr algn="ctr">
              <a:spcBef>
                <a:spcPts val="500"/>
              </a:spcBef>
              <a:defRPr sz="1300" b="1">
                <a:solidFill>
                  <a:srgbClr val="FFFFFF"/>
                </a:solidFill>
                <a:latin typeface="Segoe UI"/>
              </a:defRPr>
            </a:pPr>
            <a:r>
              <a:t>O'zbekistondagi Turizm Bozori</a:t>
            </a:r>
          </a:p>
        </p:txBody>
      </p:sp>
      <p:sp>
        <p:nvSpPr>
          <p:cNvPr id="13" name="Rounded Rectangle 12"/>
          <p:cNvSpPr/>
          <p:nvPr/>
        </p:nvSpPr>
        <p:spPr>
          <a:xfrm>
            <a:off x="731520" y="3931920"/>
            <a:ext cx="10728655" cy="1828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114800"/>
            <a:ext cx="10180015" cy="1463040"/>
          </a:xfrm>
          <a:prstGeom prst="rect">
            <a:avLst/>
          </a:prstGeom>
          <a:noFill/>
        </p:spPr>
        <p:txBody>
          <a:bodyPr wrap="square">
            <a:spAutoFit/>
          </a:bodyPr>
          <a:lstStyle/>
          <a:p>
            <a:pPr>
              <a:spcAft>
                <a:spcPts val="600"/>
              </a:spcAft>
              <a:defRPr sz="1800" b="1">
                <a:solidFill>
                  <a:srgbClr val="D4AF37"/>
                </a:solidFill>
                <a:latin typeface="Georgia"/>
              </a:defRPr>
            </a:pPr>
            <a:r>
              <a:t>🎯 Maqsadli Segment: Muqobil va Eko-Turizm</a:t>
            </a:r>
          </a:p>
          <a:p>
            <a:pPr>
              <a:defRPr sz="1200">
                <a:solidFill>
                  <a:srgbClr val="94A3B8"/>
                </a:solidFill>
                <a:latin typeface="Segoe UI"/>
              </a:defRPr>
            </a:pPr>
            <a:r>
              <a:t>Sayyohlar faqatgina Registon yoki tarixiy obidalarni emas, balki Urgut tog'lari, Omonqo'ton qarag'ayzorlari, Konigil qog'oz fabrikasi kabi ekologik maskanlarni va milliy palov tayyorlash jarayonlarini mustaqil ko'rishni istashadi. Platformamiz aynan shu segmentga tezkor va kafolatlangan xizmat ko'rsatuvchi birinchi vositadir.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pic>
        <p:nvPicPr>
          <p:cNvPr id="2" name="Picture 1" descr="uzbek_mandala.jpg"/>
          <p:cNvPicPr>
            <a:picLocks noChangeAspect="1"/>
          </p:cNvPicPr>
          <p:nvPr/>
        </p:nvPicPr>
        <p:blipFill>
          <a:blip r:embed="rId2"/>
          <a:stretch>
            <a:fillRect/>
          </a:stretch>
        </p:blipFill>
        <p:spPr>
          <a:xfrm>
            <a:off x="10058400" y="-914400"/>
            <a:ext cx="3200400" cy="3200400"/>
          </a:xfrm>
          <a:prstGeom prst="rect">
            <a:avLst/>
          </a:prstGeom>
        </p:spPr>
      </p:pic>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92240"/>
            <a:ext cx="9601200" cy="274320"/>
          </a:xfrm>
          <a:prstGeom prst="rect">
            <a:avLst/>
          </a:prstGeom>
          <a:noFill/>
        </p:spPr>
        <p:txBody>
          <a:bodyPr wrap="none" lIns="0" rIns="0" tIns="0" bIns="0">
            <a:spAutoFit/>
          </a:bodyPr>
          <a:lstStyle/>
          <a:p>
            <a:pPr>
              <a:defRPr sz="900" b="1">
                <a:solidFill>
                  <a:srgbClr val="475569"/>
                </a:solidFill>
                <a:latin typeface="Segoe UI"/>
              </a:defRPr>
            </a:pPr>
            <a:r>
              <a:t>SAMARQAND CRAFTOUR  |  INVESTITSIYA TAQDIMOTI 2026</a:t>
            </a:r>
          </a:p>
        </p:txBody>
      </p:sp>
      <p:pic>
        <p:nvPicPr>
          <p:cNvPr id="5" name="Picture 4" descr="logo.jpg"/>
          <p:cNvPicPr>
            <a:picLocks noChangeAspect="1"/>
          </p:cNvPicPr>
          <p:nvPr/>
        </p:nvPicPr>
        <p:blipFill>
          <a:blip r:embed="rId3"/>
          <a:stretch>
            <a:fillRect/>
          </a:stretch>
        </p:blipFill>
        <p:spPr>
          <a:xfrm>
            <a:off x="11430000" y="6309360"/>
            <a:ext cx="457200" cy="457200"/>
          </a:xfrm>
          <a:prstGeom prst="rect">
            <a:avLst/>
          </a:prstGeom>
        </p:spPr>
      </p:pic>
      <p:sp>
        <p:nvSpPr>
          <p:cNvPr id="6" name="TextBox 5"/>
          <p:cNvSpPr txBox="1"/>
          <p:nvPr/>
        </p:nvSpPr>
        <p:spPr>
          <a:xfrm>
            <a:off x="731520" y="457200"/>
            <a:ext cx="10728655" cy="731520"/>
          </a:xfrm>
          <a:prstGeom prst="rect">
            <a:avLst/>
          </a:prstGeom>
          <a:noFill/>
        </p:spPr>
        <p:txBody>
          <a:bodyPr wrap="square" lIns="0" rIns="0" tIns="0" bIns="0">
            <a:spAutoFit/>
          </a:bodyPr>
          <a:lstStyle/>
          <a:p>
            <a:pPr>
              <a:defRPr sz="3400" b="1">
                <a:solidFill>
                  <a:srgbClr val="D4AF37"/>
                </a:solidFill>
                <a:latin typeface="Georgia"/>
              </a:defRPr>
            </a:pPr>
            <a:r>
              <a:t>BIZNES MODEL VA DAROMAD MANBALARI</a:t>
            </a:r>
          </a:p>
        </p:txBody>
      </p:sp>
      <p:sp>
        <p:nvSpPr>
          <p:cNvPr id="7" name="Rounded Rectangle 6"/>
          <p:cNvSpPr/>
          <p:nvPr/>
        </p:nvSpPr>
        <p:spPr>
          <a:xfrm>
            <a:off x="731520" y="1645920"/>
            <a:ext cx="32918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28800"/>
            <a:ext cx="2926080" cy="3749040"/>
          </a:xfrm>
          <a:prstGeom prst="rect">
            <a:avLst/>
          </a:prstGeom>
          <a:noFill/>
        </p:spPr>
        <p:txBody>
          <a:bodyPr wrap="square">
            <a:spAutoFit/>
          </a:bodyPr>
          <a:lstStyle/>
          <a:p>
            <a:pPr>
              <a:spcAft>
                <a:spcPts val="1000"/>
              </a:spcAft>
              <a:defRPr sz="1800" b="1">
                <a:solidFill>
                  <a:srgbClr val="D4AF37"/>
                </a:solidFill>
                <a:latin typeface="Georgia"/>
              </a:defRPr>
            </a:pPr>
            <a:r>
              <a:t>Platforma Komissiyasi</a:t>
            </a:r>
          </a:p>
          <a:p>
            <a:pPr>
              <a:spcAft>
                <a:spcPts val="1000"/>
              </a:spcAft>
              <a:defRPr sz="2200" b="1">
                <a:solidFill>
                  <a:srgbClr val="009B9E"/>
                </a:solidFill>
                <a:latin typeface="Georgia"/>
              </a:defRPr>
            </a:pPr>
            <a:r>
              <a:t>15%</a:t>
            </a:r>
          </a:p>
          <a:p>
            <a:pPr>
              <a:spcAft>
                <a:spcPts val="1500"/>
              </a:spcAft>
              <a:defRPr sz="1200">
                <a:solidFill>
                  <a:srgbClr val="FFFFFF"/>
                </a:solidFill>
                <a:latin typeface="Segoe UI"/>
              </a:defRPr>
            </a:pPr>
            <a:r>
              <a:t>Platforma orqali band qilingan har bir transport va gid xizmati uchun komissiya to'lovi.</a:t>
            </a:r>
          </a:p>
          <a:p>
            <a:pPr>
              <a:spcAft>
                <a:spcPts val="500"/>
              </a:spcAft>
              <a:defRPr sz="1100">
                <a:solidFill>
                  <a:srgbClr val="94A3B8"/>
                </a:solidFill>
                <a:latin typeface="Segoe UI"/>
              </a:defRPr>
            </a:pPr>
            <a:r>
              <a:t>• Haydovchilar shahar va tog' tariflaridan 15% ulush.</a:t>
            </a:r>
          </a:p>
          <a:p>
            <a:pPr>
              <a:spcAft>
                <a:spcPts val="500"/>
              </a:spcAft>
              <a:defRPr sz="1100">
                <a:solidFill>
                  <a:srgbClr val="94A3B8"/>
                </a:solidFill>
                <a:latin typeface="Segoe UI"/>
              </a:defRPr>
            </a:pPr>
            <a:r>
              <a:t>• Gidlar kunlik til tariflaridan 15% platforma ulushi.</a:t>
            </a:r>
          </a:p>
        </p:txBody>
      </p:sp>
      <p:sp>
        <p:nvSpPr>
          <p:cNvPr id="9" name="Rounded Rectangle 8"/>
          <p:cNvSpPr/>
          <p:nvPr/>
        </p:nvSpPr>
        <p:spPr>
          <a:xfrm>
            <a:off x="4389120" y="1645920"/>
            <a:ext cx="32918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828800"/>
            <a:ext cx="2926080" cy="3749040"/>
          </a:xfrm>
          <a:prstGeom prst="rect">
            <a:avLst/>
          </a:prstGeom>
          <a:noFill/>
        </p:spPr>
        <p:txBody>
          <a:bodyPr wrap="square">
            <a:spAutoFit/>
          </a:bodyPr>
          <a:lstStyle/>
          <a:p>
            <a:pPr>
              <a:spcAft>
                <a:spcPts val="1000"/>
              </a:spcAft>
              <a:defRPr sz="1800" b="1">
                <a:solidFill>
                  <a:srgbClr val="D4AF37"/>
                </a:solidFill>
                <a:latin typeface="Georgia"/>
              </a:defRPr>
            </a:pPr>
            <a:r>
              <a:t>B2B Hamkorlik shartnomalari</a:t>
            </a:r>
          </a:p>
          <a:p>
            <a:pPr>
              <a:spcAft>
                <a:spcPts val="1000"/>
              </a:spcAft>
              <a:defRPr sz="2200" b="1">
                <a:solidFill>
                  <a:srgbClr val="009B9E"/>
                </a:solidFill>
                <a:latin typeface="Georgia"/>
              </a:defRPr>
            </a:pPr>
            <a:r>
              <a:t>Keshbek &amp; Reklama</a:t>
            </a:r>
          </a:p>
          <a:p>
            <a:pPr>
              <a:spcAft>
                <a:spcPts val="1500"/>
              </a:spcAft>
              <a:defRPr sz="1200">
                <a:solidFill>
                  <a:srgbClr val="FFFFFF"/>
                </a:solidFill>
                <a:latin typeface="Segoe UI"/>
              </a:defRPr>
            </a:pPr>
            <a:r>
              <a:t>Tashrif buyuriladigan gastronomik va hunarmandchilik nuqtalaridan olinadigan komissiya to'lovlari.</a:t>
            </a:r>
          </a:p>
          <a:p>
            <a:pPr>
              <a:spcAft>
                <a:spcPts val="500"/>
              </a:spcAft>
              <a:defRPr sz="1100">
                <a:solidFill>
                  <a:srgbClr val="94A3B8"/>
                </a:solidFill>
                <a:latin typeface="Segoe UI"/>
              </a:defRPr>
            </a:pPr>
            <a:r>
              <a:t>• Konigil eco-village, Karimbek restorani va Milliy palov markazlari integratsiyasi.</a:t>
            </a:r>
          </a:p>
          <a:p>
            <a:pPr>
              <a:spcAft>
                <a:spcPts val="500"/>
              </a:spcAft>
              <a:defRPr sz="1100">
                <a:solidFill>
                  <a:srgbClr val="94A3B8"/>
                </a:solidFill>
                <a:latin typeface="Segoe UI"/>
              </a:defRPr>
            </a:pPr>
            <a:r>
              <a:t>• Kopaytirilgan mijozlar oqimidan belgilangan ulush.</a:t>
            </a:r>
          </a:p>
        </p:txBody>
      </p:sp>
      <p:sp>
        <p:nvSpPr>
          <p:cNvPr id="11" name="Rounded Rectangle 10"/>
          <p:cNvSpPr/>
          <p:nvPr/>
        </p:nvSpPr>
        <p:spPr>
          <a:xfrm>
            <a:off x="8046720" y="1645920"/>
            <a:ext cx="32918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828800"/>
            <a:ext cx="2926080" cy="3749040"/>
          </a:xfrm>
          <a:prstGeom prst="rect">
            <a:avLst/>
          </a:prstGeom>
          <a:noFill/>
        </p:spPr>
        <p:txBody>
          <a:bodyPr wrap="square">
            <a:spAutoFit/>
          </a:bodyPr>
          <a:lstStyle/>
          <a:p>
            <a:pPr>
              <a:spcAft>
                <a:spcPts val="1000"/>
              </a:spcAft>
              <a:defRPr sz="1800" b="1">
                <a:solidFill>
                  <a:srgbClr val="D4AF37"/>
                </a:solidFill>
                <a:latin typeface="Georgia"/>
              </a:defRPr>
            </a:pPr>
            <a:r>
              <a:t>Kelajakdagi Integratsiyalar</a:t>
            </a:r>
          </a:p>
          <a:p>
            <a:pPr>
              <a:spcAft>
                <a:spcPts val="1000"/>
              </a:spcAft>
              <a:defRPr sz="2200" b="1">
                <a:solidFill>
                  <a:srgbClr val="009B9E"/>
                </a:solidFill>
                <a:latin typeface="Georgia"/>
              </a:defRPr>
            </a:pPr>
            <a:r>
              <a:t>Premium &amp; Sotuvlar</a:t>
            </a:r>
          </a:p>
          <a:p>
            <a:pPr>
              <a:spcAft>
                <a:spcPts val="1500"/>
              </a:spcAft>
              <a:defRPr sz="1200">
                <a:solidFill>
                  <a:srgbClr val="FFFFFF"/>
                </a:solidFill>
                <a:latin typeface="Segoe UI"/>
              </a:defRPr>
            </a:pPr>
            <a:r>
              <a:t>Platformani kengaytirish orqali chiptalar va tayyor turlarni sotish imkoniyati.</a:t>
            </a:r>
          </a:p>
          <a:p>
            <a:pPr>
              <a:spcAft>
                <a:spcPts val="500"/>
              </a:spcAft>
              <a:defRPr sz="1100">
                <a:solidFill>
                  <a:srgbClr val="94A3B8"/>
                </a:solidFill>
                <a:latin typeface="Segoe UI"/>
              </a:defRPr>
            </a:pPr>
            <a:r>
              <a:t>• Afrosiyob tezurar poyezdi va tarixiy obidalar chiptalarini ilova ichida sotish.</a:t>
            </a:r>
          </a:p>
          <a:p>
            <a:pPr>
              <a:spcAft>
                <a:spcPts val="500"/>
              </a:spcAft>
              <a:defRPr sz="1100">
                <a:solidFill>
                  <a:srgbClr val="94A3B8"/>
                </a:solidFill>
                <a:latin typeface="Segoe UI"/>
              </a:defRPr>
            </a:pPr>
            <a:r>
              <a:t>• Tayyor premium yo'nalishli turlar konstruktori.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pic>
        <p:nvPicPr>
          <p:cNvPr id="2" name="Picture 1" descr="uzbek_mandala.jpg"/>
          <p:cNvPicPr>
            <a:picLocks noChangeAspect="1"/>
          </p:cNvPicPr>
          <p:nvPr/>
        </p:nvPicPr>
        <p:blipFill>
          <a:blip r:embed="rId2"/>
          <a:stretch>
            <a:fillRect/>
          </a:stretch>
        </p:blipFill>
        <p:spPr>
          <a:xfrm>
            <a:off x="10058400" y="-914400"/>
            <a:ext cx="3200400" cy="3200400"/>
          </a:xfrm>
          <a:prstGeom prst="rect">
            <a:avLst/>
          </a:prstGeom>
        </p:spPr>
      </p:pic>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92240"/>
            <a:ext cx="9601200" cy="274320"/>
          </a:xfrm>
          <a:prstGeom prst="rect">
            <a:avLst/>
          </a:prstGeom>
          <a:noFill/>
        </p:spPr>
        <p:txBody>
          <a:bodyPr wrap="none" lIns="0" rIns="0" tIns="0" bIns="0">
            <a:spAutoFit/>
          </a:bodyPr>
          <a:lstStyle/>
          <a:p>
            <a:pPr>
              <a:defRPr sz="900" b="1">
                <a:solidFill>
                  <a:srgbClr val="475569"/>
                </a:solidFill>
                <a:latin typeface="Segoe UI"/>
              </a:defRPr>
            </a:pPr>
            <a:r>
              <a:t>SAMARQAND CRAFTOUR  |  INVESTITSIYA TAQDIMOTI 2026</a:t>
            </a:r>
          </a:p>
        </p:txBody>
      </p:sp>
      <p:pic>
        <p:nvPicPr>
          <p:cNvPr id="5" name="Picture 4" descr="logo.jpg"/>
          <p:cNvPicPr>
            <a:picLocks noChangeAspect="1"/>
          </p:cNvPicPr>
          <p:nvPr/>
        </p:nvPicPr>
        <p:blipFill>
          <a:blip r:embed="rId3"/>
          <a:stretch>
            <a:fillRect/>
          </a:stretch>
        </p:blipFill>
        <p:spPr>
          <a:xfrm>
            <a:off x="11430000" y="6309360"/>
            <a:ext cx="457200" cy="457200"/>
          </a:xfrm>
          <a:prstGeom prst="rect">
            <a:avLst/>
          </a:prstGeom>
        </p:spPr>
      </p:pic>
      <p:sp>
        <p:nvSpPr>
          <p:cNvPr id="6" name="TextBox 5"/>
          <p:cNvSpPr txBox="1"/>
          <p:nvPr/>
        </p:nvSpPr>
        <p:spPr>
          <a:xfrm>
            <a:off x="731520" y="457200"/>
            <a:ext cx="10728655" cy="731520"/>
          </a:xfrm>
          <a:prstGeom prst="rect">
            <a:avLst/>
          </a:prstGeom>
          <a:noFill/>
        </p:spPr>
        <p:txBody>
          <a:bodyPr wrap="square" lIns="0" rIns="0" tIns="0" bIns="0">
            <a:spAutoFit/>
          </a:bodyPr>
          <a:lstStyle/>
          <a:p>
            <a:pPr>
              <a:defRPr sz="3400" b="1">
                <a:solidFill>
                  <a:srgbClr val="D4AF37"/>
                </a:solidFill>
                <a:latin typeface="Georgia"/>
              </a:defRPr>
            </a:pPr>
            <a:r>
              <a:t>TEXNOLOGIK STACK VA AVTOMATIZATSIYA (N8N)</a:t>
            </a:r>
          </a:p>
        </p:txBody>
      </p:sp>
      <p:sp>
        <p:nvSpPr>
          <p:cNvPr id="7" name="Rounded Rectangle 6"/>
          <p:cNvSpPr/>
          <p:nvPr/>
        </p:nvSpPr>
        <p:spPr>
          <a:xfrm>
            <a:off x="731520" y="1645920"/>
            <a:ext cx="51206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20240"/>
            <a:ext cx="4572000" cy="3566160"/>
          </a:xfrm>
          <a:prstGeom prst="rect">
            <a:avLst/>
          </a:prstGeom>
          <a:noFill/>
        </p:spPr>
        <p:txBody>
          <a:bodyPr wrap="square">
            <a:spAutoFit/>
          </a:bodyPr>
          <a:lstStyle/>
          <a:p>
            <a:pPr>
              <a:spcAft>
                <a:spcPts val="1500"/>
              </a:spcAft>
              <a:defRPr sz="2000" b="1">
                <a:solidFill>
                  <a:srgbClr val="D4AF37"/>
                </a:solidFill>
                <a:latin typeface="Georgia"/>
              </a:defRPr>
            </a:pPr>
            <a:r>
              <a:t>💻 Platforma Arxitekturasi</a:t>
            </a:r>
          </a:p>
          <a:p>
            <a:pPr>
              <a:spcAft>
                <a:spcPts val="1000"/>
              </a:spcAft>
              <a:defRPr sz="1200" b="1">
                <a:solidFill>
                  <a:srgbClr val="FFFFFF"/>
                </a:solidFill>
                <a:latin typeface="Segoe UI"/>
              </a:defRPr>
            </a:pPr>
            <a:r>
              <a:t>Next.js 16 (App Router): </a:t>
            </a:r>
            <a:r>
              <a:rPr b="0">
                <a:solidFill>
                  <a:srgbClr val="94A3B8"/>
                </a:solidFill>
              </a:rPr>
              <a:t>Tezkor yuklanish, SEO optimallashtirish va xavfsiz Server Component'lar.</a:t>
            </a:r>
          </a:p>
          <a:p>
            <a:pPr>
              <a:spcAft>
                <a:spcPts val="1000"/>
              </a:spcAft>
              <a:defRPr sz="1200" b="1">
                <a:solidFill>
                  <a:srgbClr val="FFFFFF"/>
                </a:solidFill>
                <a:latin typeface="Segoe UI"/>
              </a:defRPr>
            </a:pPr>
            <a:r>
              <a:t>Supabase (PostgreSQL &amp; Auth): </a:t>
            </a:r>
            <a:r>
              <a:rPr b="0">
                <a:solidFill>
                  <a:srgbClr val="94A3B8"/>
                </a:solidFill>
              </a:rPr>
              <a:t>Sayyohlar ma'lumotlari, real vaqt rejimidagi gid va haydovchilar bazasi.</a:t>
            </a:r>
          </a:p>
          <a:p>
            <a:pPr>
              <a:spcAft>
                <a:spcPts val="1000"/>
              </a:spcAft>
              <a:defRPr sz="1200" b="1">
                <a:solidFill>
                  <a:srgbClr val="FFFFFF"/>
                </a:solidFill>
                <a:latin typeface="Segoe UI"/>
              </a:defRPr>
            </a:pPr>
            <a:r>
              <a:t>Leaflet.js Interactive Maps: </a:t>
            </a:r>
            <a:r>
              <a:rPr b="0">
                <a:solidFill>
                  <a:srgbClr val="94A3B8"/>
                </a:solidFill>
              </a:rPr>
              <a:t>Hech qanday og'ir Google Maps to'lovlarisiz sayyohning marshrutini xaritada tekin chizish.</a:t>
            </a:r>
          </a:p>
          <a:p>
            <a:pPr>
              <a:spcAft>
                <a:spcPts val="1000"/>
              </a:spcAft>
              <a:defRPr sz="1200" b="1">
                <a:solidFill>
                  <a:srgbClr val="FFFFFF"/>
                </a:solidFill>
                <a:latin typeface="Segoe UI"/>
              </a:defRPr>
            </a:pPr>
            <a:r>
              <a:t>Nodemailer Email System: </a:t>
            </a:r>
            <a:r>
              <a:rPr b="0">
                <a:solidFill>
                  <a:srgbClr val="94A3B8"/>
                </a:solidFill>
              </a:rPr>
              <a:t>Tasdiqlash OTP kodlarini va yakuniy vaucherni mijozga yuborish tizimi.</a:t>
            </a:r>
          </a:p>
        </p:txBody>
      </p:sp>
      <p:sp>
        <p:nvSpPr>
          <p:cNvPr id="9" name="Rounded Rectangle 8"/>
          <p:cNvSpPr/>
          <p:nvPr/>
        </p:nvSpPr>
        <p:spPr>
          <a:xfrm>
            <a:off x="6217920" y="1645920"/>
            <a:ext cx="51206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20240"/>
            <a:ext cx="4572000" cy="3566160"/>
          </a:xfrm>
          <a:prstGeom prst="rect">
            <a:avLst/>
          </a:prstGeom>
          <a:noFill/>
        </p:spPr>
        <p:txBody>
          <a:bodyPr wrap="square">
            <a:spAutoFit/>
          </a:bodyPr>
          <a:lstStyle/>
          <a:p>
            <a:pPr>
              <a:spcAft>
                <a:spcPts val="1500"/>
              </a:spcAft>
              <a:defRPr sz="2000" b="1">
                <a:solidFill>
                  <a:srgbClr val="D4AF37"/>
                </a:solidFill>
                <a:latin typeface="Georgia"/>
              </a:defRPr>
            </a:pPr>
            <a:r>
              <a:t>⚡ n8n va WhatsApp Avtomatizatsiyasi</a:t>
            </a:r>
          </a:p>
          <a:p>
            <a:pPr>
              <a:spcAft>
                <a:spcPts val="1000"/>
              </a:spcAft>
              <a:defRPr sz="1200" b="1">
                <a:solidFill>
                  <a:srgbClr val="009B9E"/>
                </a:solidFill>
                <a:latin typeface="Segoe UI"/>
              </a:defRPr>
            </a:pPr>
            <a:r>
              <a:t>• n8n workflow integratsiyasi — </a:t>
            </a:r>
            <a:r>
              <a:rPr b="0">
                <a:solidFill>
                  <a:srgbClr val="94A3B8"/>
                </a:solidFill>
              </a:rPr>
              <a:t>Buyurtmalar boshqaruvi va monitoringi n8n platformasiga ulangan.</a:t>
            </a:r>
          </a:p>
          <a:p>
            <a:pPr>
              <a:spcAft>
                <a:spcPts val="1000"/>
              </a:spcAft>
              <a:defRPr sz="1200" b="1">
                <a:solidFill>
                  <a:srgbClr val="009B9E"/>
                </a:solidFill>
                <a:latin typeface="Segoe UI"/>
              </a:defRPr>
            </a:pPr>
            <a:r>
              <a:t>• Avtomatik xabar yetkazish — </a:t>
            </a:r>
            <a:r>
              <a:rPr b="0">
                <a:solidFill>
                  <a:srgbClr val="94A3B8"/>
                </a:solidFill>
              </a:rPr>
              <a:t>Sayyoh buyurtmani tasdiqlagach, haydovchi va gidning WhatsApp / Telegramiga darhol xabar ketadi.</a:t>
            </a:r>
          </a:p>
          <a:p>
            <a:pPr>
              <a:spcAft>
                <a:spcPts val="1000"/>
              </a:spcAft>
              <a:defRPr sz="1200" b="1">
                <a:solidFill>
                  <a:srgbClr val="009B9E"/>
                </a:solidFill>
                <a:latin typeface="Segoe UI"/>
              </a:defRPr>
            </a:pPr>
            <a:r>
              <a:t>• Marshrut va aloqa ma'lumotlari — </a:t>
            </a:r>
            <a:r>
              <a:rPr b="0">
                <a:solidFill>
                  <a:srgbClr val="94A3B8"/>
                </a:solidFill>
              </a:rPr>
              <a:t>Xabarda sayyohning to'liq marshruti, poyezd/samolyot kelish vaqti va telefon raqami avtomatik taqdim etiladi.</a:t>
            </a:r>
          </a:p>
          <a:p>
            <a:pPr>
              <a:spcAft>
                <a:spcPts val="1000"/>
              </a:spcAft>
              <a:defRPr sz="1200" b="1">
                <a:solidFill>
                  <a:srgbClr val="009B9E"/>
                </a:solidFill>
                <a:latin typeface="Segoe UI"/>
              </a:defRPr>
            </a:pPr>
            <a:r>
              <a:t>• Operatsion xarajatlarni 90% kamaytirish — </a:t>
            </a:r>
            <a:r>
              <a:rPr b="0">
                <a:solidFill>
                  <a:srgbClr val="94A3B8"/>
                </a:solidFill>
              </a:rPr>
              <a:t>Menejerlarning qo'lda aloqa qilish vaqtini tejaydi, inson omilini kamaytiradi.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pic>
        <p:nvPicPr>
          <p:cNvPr id="2" name="Picture 1" descr="uzbek_mandala.jpg"/>
          <p:cNvPicPr>
            <a:picLocks noChangeAspect="1"/>
          </p:cNvPicPr>
          <p:nvPr/>
        </p:nvPicPr>
        <p:blipFill>
          <a:blip r:embed="rId2"/>
          <a:stretch>
            <a:fillRect/>
          </a:stretch>
        </p:blipFill>
        <p:spPr>
          <a:xfrm>
            <a:off x="10058400" y="-914400"/>
            <a:ext cx="3200400" cy="3200400"/>
          </a:xfrm>
          <a:prstGeom prst="rect">
            <a:avLst/>
          </a:prstGeom>
        </p:spPr>
      </p:pic>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92240"/>
            <a:ext cx="9601200" cy="274320"/>
          </a:xfrm>
          <a:prstGeom prst="rect">
            <a:avLst/>
          </a:prstGeom>
          <a:noFill/>
        </p:spPr>
        <p:txBody>
          <a:bodyPr wrap="none" lIns="0" rIns="0" tIns="0" bIns="0">
            <a:spAutoFit/>
          </a:bodyPr>
          <a:lstStyle/>
          <a:p>
            <a:pPr>
              <a:defRPr sz="900" b="1">
                <a:solidFill>
                  <a:srgbClr val="475569"/>
                </a:solidFill>
                <a:latin typeface="Segoe UI"/>
              </a:defRPr>
            </a:pPr>
            <a:r>
              <a:t>SAMARQAND CRAFTOUR  |  INVESTITSIYA TAQDIMOTI 2026</a:t>
            </a:r>
          </a:p>
        </p:txBody>
      </p:sp>
      <p:pic>
        <p:nvPicPr>
          <p:cNvPr id="5" name="Picture 4" descr="logo.jpg"/>
          <p:cNvPicPr>
            <a:picLocks noChangeAspect="1"/>
          </p:cNvPicPr>
          <p:nvPr/>
        </p:nvPicPr>
        <p:blipFill>
          <a:blip r:embed="rId3"/>
          <a:stretch>
            <a:fillRect/>
          </a:stretch>
        </p:blipFill>
        <p:spPr>
          <a:xfrm>
            <a:off x="11430000" y="6309360"/>
            <a:ext cx="457200" cy="457200"/>
          </a:xfrm>
          <a:prstGeom prst="rect">
            <a:avLst/>
          </a:prstGeom>
        </p:spPr>
      </p:pic>
      <p:sp>
        <p:nvSpPr>
          <p:cNvPr id="6" name="TextBox 5"/>
          <p:cNvSpPr txBox="1"/>
          <p:nvPr/>
        </p:nvSpPr>
        <p:spPr>
          <a:xfrm>
            <a:off x="731520" y="457200"/>
            <a:ext cx="10728655" cy="731520"/>
          </a:xfrm>
          <a:prstGeom prst="rect">
            <a:avLst/>
          </a:prstGeom>
          <a:noFill/>
        </p:spPr>
        <p:txBody>
          <a:bodyPr wrap="square" lIns="0" rIns="0" tIns="0" bIns="0">
            <a:spAutoFit/>
          </a:bodyPr>
          <a:lstStyle/>
          <a:p>
            <a:pPr>
              <a:defRPr sz="3400" b="1">
                <a:solidFill>
                  <a:srgbClr val="D4AF37"/>
                </a:solidFill>
                <a:latin typeface="Georgia"/>
              </a:defRPr>
            </a:pPr>
            <a:r>
              <a:t>KELAJAK REJALARI VA INVESTITSIYA</a:t>
            </a:r>
          </a:p>
        </p:txBody>
      </p:sp>
      <p:sp>
        <p:nvSpPr>
          <p:cNvPr id="7" name="TextBox 6"/>
          <p:cNvSpPr txBox="1"/>
          <p:nvPr/>
        </p:nvSpPr>
        <p:spPr>
          <a:xfrm>
            <a:off x="731520" y="1645920"/>
            <a:ext cx="4572000" cy="4114800"/>
          </a:xfrm>
          <a:prstGeom prst="rect">
            <a:avLst/>
          </a:prstGeom>
          <a:noFill/>
        </p:spPr>
        <p:txBody>
          <a:bodyPr wrap="square">
            <a:spAutoFit/>
          </a:bodyPr>
          <a:lstStyle/>
          <a:p>
            <a:pPr>
              <a:spcAft>
                <a:spcPts val="1000"/>
              </a:spcAft>
              <a:defRPr sz="1400" b="1">
                <a:solidFill>
                  <a:srgbClr val="009B9E"/>
                </a:solidFill>
                <a:latin typeface="Segoe UI"/>
              </a:defRPr>
            </a:pPr>
            <a:r>
              <a:t>INVESTITSIYA MAQSADI</a:t>
            </a:r>
          </a:p>
          <a:p>
            <a:pPr>
              <a:spcAft>
                <a:spcPts val="1500"/>
              </a:spcAft>
              <a:defRPr sz="3600" b="1">
                <a:solidFill>
                  <a:srgbClr val="D4AF37"/>
                </a:solidFill>
                <a:latin typeface="Georgia"/>
              </a:defRPr>
            </a:pPr>
            <a:r>
              <a:t>$100,000 Seed Round</a:t>
            </a:r>
          </a:p>
          <a:p>
            <a:pPr>
              <a:spcAft>
                <a:spcPts val="1000"/>
              </a:spcAft>
              <a:defRPr sz="1300">
                <a:solidFill>
                  <a:srgbClr val="FFFFFF"/>
                </a:solidFill>
                <a:latin typeface="Segoe UI"/>
              </a:defRPr>
            </a:pPr>
            <a:r>
              <a:t>Ushbu investitsiya quyidagi strategik yo'nalishlarga sarflanadi:</a:t>
            </a:r>
          </a:p>
          <a:p>
            <a:pPr>
              <a:spcAft>
                <a:spcPts val="500"/>
              </a:spcAft>
              <a:defRPr sz="1200" b="1">
                <a:solidFill>
                  <a:srgbClr val="D4AF37"/>
                </a:solidFill>
                <a:latin typeface="Segoe UI"/>
              </a:defRPr>
            </a:pPr>
            <a:r>
              <a:t>✔ Ilova ishlab chiqish — </a:t>
            </a:r>
            <a:r>
              <a:rPr b="0">
                <a:solidFill>
                  <a:srgbClr val="94A3B8"/>
                </a:solidFill>
              </a:rPr>
              <a:t>iOS va Android uchun to'liq mobil ilovalarni tayyorlash.</a:t>
            </a:r>
          </a:p>
          <a:p>
            <a:pPr>
              <a:spcAft>
                <a:spcPts val="500"/>
              </a:spcAft>
              <a:defRPr sz="1200" b="1">
                <a:solidFill>
                  <a:srgbClr val="D4AF37"/>
                </a:solidFill>
                <a:latin typeface="Segoe UI"/>
              </a:defRPr>
            </a:pPr>
            <a:r>
              <a:t>✔ O'zbekiston bo'ylab kengayish — </a:t>
            </a:r>
            <a:r>
              <a:rPr b="0">
                <a:solidFill>
                  <a:srgbClr val="94A3B8"/>
                </a:solidFill>
              </a:rPr>
              <a:t>Buxoro, Xiva va Toshkent shaharlari gid va transport tarmoqlarini qo'shish.</a:t>
            </a:r>
          </a:p>
          <a:p>
            <a:pPr>
              <a:spcAft>
                <a:spcPts val="500"/>
              </a:spcAft>
              <a:defRPr sz="1200" b="1">
                <a:solidFill>
                  <a:srgbClr val="D4AF37"/>
                </a:solidFill>
                <a:latin typeface="Segoe UI"/>
              </a:defRPr>
            </a:pPr>
            <a:r>
              <a:t>✔ Marketing va brending — </a:t>
            </a:r>
            <a:r>
              <a:rPr b="0">
                <a:solidFill>
                  <a:srgbClr val="94A3B8"/>
                </a:solidFill>
              </a:rPr>
              <a:t>Yevropa, AQSh va Arab davlatlaridan kelayotgan sayyohlarga raqamli marketing orqali yetib borish.</a:t>
            </a:r>
          </a:p>
        </p:txBody>
      </p:sp>
      <p:sp>
        <p:nvSpPr>
          <p:cNvPr id="8" name="Rounded Rectangle 7"/>
          <p:cNvSpPr/>
          <p:nvPr/>
        </p:nvSpPr>
        <p:spPr>
          <a:xfrm>
            <a:off x="5943600" y="1645920"/>
            <a:ext cx="548640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920240"/>
            <a:ext cx="4754880" cy="3566160"/>
          </a:xfrm>
          <a:prstGeom prst="rect">
            <a:avLst/>
          </a:prstGeom>
          <a:noFill/>
        </p:spPr>
        <p:txBody>
          <a:bodyPr wrap="square">
            <a:spAutoFit/>
          </a:bodyPr>
          <a:lstStyle/>
          <a:p>
            <a:pPr>
              <a:spcAft>
                <a:spcPts val="1500"/>
              </a:spcAft>
              <a:defRPr sz="2000" b="1">
                <a:solidFill>
                  <a:srgbClr val="D4AF37"/>
                </a:solidFill>
                <a:latin typeface="Georgia"/>
              </a:defRPr>
            </a:pPr>
            <a:r>
              <a:t>🚀 Kutilayotgan Natijalar (2026-2027)</a:t>
            </a:r>
          </a:p>
          <a:p>
            <a:pPr>
              <a:spcAft>
                <a:spcPts val="800"/>
              </a:spcAft>
              <a:defRPr sz="1200">
                <a:solidFill>
                  <a:srgbClr val="94A3B8"/>
                </a:solidFill>
                <a:latin typeface="Segoe UI"/>
              </a:defRPr>
            </a:pPr>
            <a:r>
              <a:t>⚡ 10,000 dan ortiq muvaffaqiyatli buyurtmalarni amalga oshirish.</a:t>
            </a:r>
          </a:p>
          <a:p>
            <a:pPr>
              <a:spcAft>
                <a:spcPts val="800"/>
              </a:spcAft>
              <a:defRPr sz="1200">
                <a:solidFill>
                  <a:srgbClr val="94A3B8"/>
                </a:solidFill>
                <a:latin typeface="Segoe UI"/>
              </a:defRPr>
            </a:pPr>
            <a:r>
              <a:t>⚡ 500+ sertifikatlangan gid va haydovchilar bilan hamkorlik tarmog'i.</a:t>
            </a:r>
          </a:p>
          <a:p>
            <a:pPr>
              <a:spcAft>
                <a:spcPts val="800"/>
              </a:spcAft>
              <a:defRPr sz="1200">
                <a:solidFill>
                  <a:srgbClr val="94A3B8"/>
                </a:solidFill>
                <a:latin typeface="Segoe UI"/>
              </a:defRPr>
            </a:pPr>
            <a:r>
              <a:t>⚡ Muzeylar, tezyurar poyezdlar va madaniy tadbirlar chiptalari bilan to'liq integratsiya.</a:t>
            </a:r>
          </a:p>
          <a:p>
            <a:pPr>
              <a:spcAft>
                <a:spcPts val="800"/>
              </a:spcAft>
              <a:defRPr sz="1200">
                <a:solidFill>
                  <a:srgbClr val="94A3B8"/>
                </a:solidFill>
                <a:latin typeface="Segoe UI"/>
              </a:defRPr>
            </a:pPr>
            <a:r>
              <a:t>⚡ Sayohatlarni rejalashtirish operatsion vaqtini 5 daqiqadan kamaytirish.</a:t>
            </a:r>
          </a:p>
          <a:p>
            <a:pPr>
              <a:spcBef>
                <a:spcPts val="2000"/>
              </a:spcBef>
              <a:defRPr sz="1300" b="1">
                <a:solidFill>
                  <a:srgbClr val="009B9E"/>
                </a:solidFill>
                <a:latin typeface="Segoe UI"/>
              </a:defRPr>
            </a:pPr>
            <a:r>
              <a:t>Biz bilan bog'lanish: info@samarkandcraftour.uz</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