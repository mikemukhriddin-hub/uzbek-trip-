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65760"/>
            <a:ext cx="11460175" cy="6126480"/>
          </a:xfrm>
          <a:prstGeom prst="rect">
            <a:avLst/>
          </a:prstGeom>
          <a:noFill/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zbek_mandal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143000"/>
            <a:ext cx="4572000" cy="4572000"/>
          </a:xfrm>
          <a:prstGeom prst="rect">
            <a:avLst/>
          </a:prstGeom>
        </p:spPr>
      </p:pic>
      <p:pic>
        <p:nvPicPr>
          <p:cNvPr id="4" name="Picture 3" descr="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731520"/>
            <a:ext cx="1097280" cy="1097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011680"/>
            <a:ext cx="56692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5400" b="1">
                <a:solidFill>
                  <a:srgbClr val="D4AF37"/>
                </a:solidFill>
                <a:latin typeface="Georgia"/>
              </a:defRPr>
            </a:pPr>
            <a:r>
              <a:t>UZBEK-TRIP</a:t>
            </a:r>
          </a:p>
          <a:p>
            <a:pPr algn="l">
              <a:spcBef>
                <a:spcPts val="10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Shaxsiy va Aqlli Marshrut Konstruktori</a:t>
            </a:r>
          </a:p>
          <a:p>
            <a:pPr algn="l">
              <a:spcBef>
                <a:spcPts val="15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5 daqiqalik investitsion pitch deck taqdimoti: muammo, yechim, bozor, jamoa va erishilgan natijalar (traction).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9B9E"/>
                </a:solidFill>
                <a:latin typeface="Segoe UI"/>
              </a:defRPr>
            </a:pPr>
            <a:r>
              <a:t>INVESTOR PITCH DECK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zbek_mandal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-914400"/>
            <a:ext cx="3200400" cy="320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92240"/>
            <a:ext cx="9601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475569"/>
                </a:solidFill>
                <a:latin typeface="Segoe UI"/>
              </a:defRPr>
            </a:pPr>
            <a:r>
              <a:t>UZBEK-TRIP (SAMARQAND CRAFTOUR)  |  5-DAQIQALIK INVESTOR PITCH DECK</a:t>
            </a:r>
          </a:p>
        </p:txBody>
      </p:sp>
      <p:pic>
        <p:nvPicPr>
          <p:cNvPr id="5" name="Picture 4" descr="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0" y="6309360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D4AF37"/>
                </a:solidFill>
                <a:latin typeface="Georgia"/>
              </a:defRPr>
            </a:pPr>
            <a:r>
              <a:t>TURIZMDAGI ANIQ MUAMMOLAR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291840" cy="411480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29260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9B9E"/>
                </a:solidFill>
                <a:latin typeface="Georgia"/>
              </a:defRPr>
            </a:pPr>
            <a:r>
              <a:t>01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1800" b="1">
                <a:solidFill>
                  <a:srgbClr val="D4AF37"/>
                </a:solidFill>
                <a:latin typeface="Georgia"/>
              </a:defRPr>
            </a:pPr>
            <a:r>
              <a:t>Qotib qolgan turlar</a:t>
            </a:r>
          </a:p>
          <a:p>
            <a:pPr>
              <a:spcAft>
                <a:spcPts val="10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Mavjud turpaketlar juda qattiq rejalashtirilgan. Zamonaviy erkin sayyohlar tayyor shablonlardan charchagan va o'z marshrutlarini shaxsiy qiziqishlariga moslashni xohlashadi.</a:t>
            </a:r>
          </a:p>
          <a:p>
            <a:pPr>
              <a:defRPr sz="1100" i="1">
                <a:solidFill>
                  <a:srgbClr val="475569"/>
                </a:solidFill>
                <a:latin typeface="Segoe UI"/>
              </a:defRPr>
            </a:pPr>
            <a:r>
              <a:t>Individual yondashuv yo'qligi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291840" cy="411480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828800"/>
            <a:ext cx="29260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9B9E"/>
                </a:solidFill>
                <a:latin typeface="Georgia"/>
              </a:defRPr>
            </a:pPr>
            <a:r>
              <a:t>02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1800" b="1">
                <a:solidFill>
                  <a:srgbClr val="D4AF37"/>
                </a:solidFill>
                <a:latin typeface="Georgia"/>
              </a:defRPr>
            </a:pPr>
            <a:r>
              <a:t>Noaniq va yashirin narxlar</a:t>
            </a:r>
          </a:p>
          <a:p>
            <a:pPr>
              <a:spcAft>
                <a:spcPts val="10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Gidlar va haydovchilar bozori tartibga solinmagan. Narxlar oldindan ma'lum emas va yashirin komissiyalar sababli sayyohlar ko'p pul yo'qotishadi.</a:t>
            </a:r>
          </a:p>
          <a:p>
            <a:pPr>
              <a:defRPr sz="1100" i="1">
                <a:solidFill>
                  <a:srgbClr val="475569"/>
                </a:solidFill>
                <a:latin typeface="Segoe UI"/>
              </a:defRPr>
            </a:pPr>
            <a:r>
              <a:t>Moliyaviy shaffoflik yo'qligi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291840" cy="411480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828800"/>
            <a:ext cx="29260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9B9E"/>
                </a:solidFill>
                <a:latin typeface="Georgia"/>
              </a:defRPr>
            </a:pPr>
            <a:r>
              <a:t>03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1800" b="1">
                <a:solidFill>
                  <a:srgbClr val="D4AF37"/>
                </a:solidFill>
                <a:latin typeface="Georgia"/>
              </a:defRPr>
            </a:pPr>
            <a:r>
              <a:t>Sertifikatsiyalanmagan xizmatlar</a:t>
            </a:r>
          </a:p>
          <a:p>
            <a:pPr>
              <a:spcAft>
                <a:spcPts val="10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Professional tillarni biladigan gidlar va ishonchli haydovchilarni bitta platformada kafolatlangan holda band qilish va tekshirish imkoniyati cheklangan.</a:t>
            </a:r>
          </a:p>
          <a:p>
            <a:pPr>
              <a:defRPr sz="1100" i="1">
                <a:solidFill>
                  <a:srgbClr val="475569"/>
                </a:solidFill>
                <a:latin typeface="Segoe UI"/>
              </a:defRPr>
            </a:pPr>
            <a:r>
              <a:t>Xavfsizlik va sifat nazorati sustligi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zbek_mandal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-914400"/>
            <a:ext cx="3200400" cy="320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92240"/>
            <a:ext cx="9601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475569"/>
                </a:solidFill>
                <a:latin typeface="Segoe UI"/>
              </a:defRPr>
            </a:pPr>
            <a:r>
              <a:t>UZBEK-TRIP (SAMARQAND CRAFTOUR)  |  5-DAQIQALIK INVESTOR PITCH DECK</a:t>
            </a:r>
          </a:p>
        </p:txBody>
      </p:sp>
      <p:pic>
        <p:nvPicPr>
          <p:cNvPr id="5" name="Picture 4" descr="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0" y="6309360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D4AF37"/>
                </a:solidFill>
                <a:latin typeface="Georgia"/>
              </a:defRPr>
            </a:pPr>
            <a:r>
              <a:t>YECHIM VA MAHSULOT QANDAY ISHLAYDI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400" b="1">
                <a:solidFill>
                  <a:srgbClr val="FFFFFF"/>
                </a:solidFill>
                <a:latin typeface="Georgia"/>
              </a:defRPr>
            </a:pPr>
            <a:r>
              <a:t>Biz sayyohlarga to'liq shaffoflik va boshqaruv erkinligini beramiz.</a:t>
            </a:r>
          </a:p>
          <a:p>
            <a:pPr>
              <a:spcAft>
                <a:spcPts val="15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Sayyoh bir necha soniyalar ichida o'ziga mos transport turini, gid tili va boradigan maskanlarini tanlab, o'z yo'nalishini 'Lego' kabi teradi.</a:t>
            </a:r>
          </a:p>
          <a:p>
            <a:pPr>
              <a:defRPr sz="1200">
                <a:solidFill>
                  <a:srgbClr val="009B9E"/>
                </a:solidFill>
                <a:latin typeface="Segoe UI"/>
              </a:defRPr>
            </a:pPr>
            <a:r>
              <a:t>Real vaqt rejimida GPS navigatsiya yo'llari chiziladi va jami narx hisoblanib chiqadi.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645920"/>
            <a:ext cx="6126480" cy="118872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0" y="1737360"/>
            <a:ext cx="5760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4AF37"/>
                </a:solidFill>
                <a:latin typeface="Georgia"/>
              </a:defRPr>
            </a:pPr>
            <a:r>
              <a:t>🗺 Interaktiv Marshrut Quruvchi</a:t>
            </a:r>
          </a:p>
          <a:p>
            <a:pPr>
              <a:spcBef>
                <a:spcPts val="400"/>
              </a:spcBef>
              <a:defRPr sz="1150">
                <a:solidFill>
                  <a:srgbClr val="94A3B8"/>
                </a:solidFill>
                <a:latin typeface="Segoe UI"/>
              </a:defRPr>
            </a:pPr>
            <a:r>
              <a:t>Tarixiy diqqatga sazovor joylar va muqobil eko-turlarni birlashtirib, OSRM orqali yo'llar bo'yicha marshrut chizish.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3017520"/>
            <a:ext cx="6126480" cy="118872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0" y="3108960"/>
            <a:ext cx="5760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4AF37"/>
                </a:solidFill>
                <a:latin typeface="Georgia"/>
              </a:defRPr>
            </a:pPr>
            <a:r>
              <a:t>🚗 Haqiqiy GPS Kuzatuv &amp; Simulyatsiya</a:t>
            </a:r>
          </a:p>
          <a:p>
            <a:pPr>
              <a:spcBef>
                <a:spcPts val="400"/>
              </a:spcBef>
              <a:defRPr sz="1150">
                <a:solidFill>
                  <a:srgbClr val="94A3B8"/>
                </a:solidFill>
                <a:latin typeface="Segoe UI"/>
              </a:defRPr>
            </a:pPr>
            <a:r>
              <a:t>Sayyohning harakatlanishini online ko'rsatish, HUD panelda masofa, tezlik va yetib borish vaqtini (ETA) jonli yangilash.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0" y="4389120"/>
            <a:ext cx="6126480" cy="118872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480560"/>
            <a:ext cx="5760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4AF37"/>
                </a:solidFill>
                <a:latin typeface="Georgia"/>
              </a:defRPr>
            </a:pPr>
            <a:r>
              <a:t>⚡ Avtomatlashtirilgan n8n Workflow</a:t>
            </a:r>
          </a:p>
          <a:p>
            <a:pPr>
              <a:spcBef>
                <a:spcPts val="400"/>
              </a:spcBef>
              <a:defRPr sz="1150">
                <a:solidFill>
                  <a:srgbClr val="94A3B8"/>
                </a:solidFill>
                <a:latin typeface="Segoe UI"/>
              </a:defRPr>
            </a:pPr>
            <a:r>
              <a:t>Mijoz OTP kod orqali band qilganda haydovchi va gidning WhatsApp raqamiga to'liq ma'lumotlarni 1 soniyada yuborish.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zbek_mandal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-914400"/>
            <a:ext cx="3200400" cy="320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92240"/>
            <a:ext cx="9601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475569"/>
                </a:solidFill>
                <a:latin typeface="Segoe UI"/>
              </a:defRPr>
            </a:pPr>
            <a:r>
              <a:t>UZBEK-TRIP (SAMARQAND CRAFTOUR)  |  5-DAQIQALIK INVESTOR PITCH DECK</a:t>
            </a:r>
          </a:p>
        </p:txBody>
      </p:sp>
      <p:pic>
        <p:nvPicPr>
          <p:cNvPr id="5" name="Picture 4" descr="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0" y="6309360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D4AF37"/>
                </a:solidFill>
                <a:latin typeface="Georgia"/>
              </a:defRPr>
            </a:pPr>
            <a:r>
              <a:t>BOZOR HAJMI VA ASOSIY RAQOBATCHILAR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291840" cy="201168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009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2926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D4AF37"/>
                </a:solidFill>
                <a:latin typeface="Georgia"/>
              </a:defRPr>
            </a:pPr>
            <a:r>
              <a:t>$1.2B+</a:t>
            </a:r>
          </a:p>
          <a:p>
            <a:pPr algn="ctr">
              <a:spcBef>
                <a:spcPts val="500"/>
              </a:spcBef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TAM (Total Addressable Market)</a:t>
            </a:r>
          </a:p>
          <a:p>
            <a:pPr algn="ctr">
              <a:spcBef>
                <a:spcPts val="5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O'zbekistondagi umumiy turizm bozori va sayyohlar xarajatlari yillik hajmi.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291840" cy="201168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009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783080"/>
            <a:ext cx="2926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D4AF37"/>
                </a:solidFill>
                <a:latin typeface="Georgia"/>
              </a:defRPr>
            </a:pPr>
            <a:r>
              <a:t>$250M</a:t>
            </a:r>
          </a:p>
          <a:p>
            <a:pPr algn="ctr">
              <a:spcBef>
                <a:spcPts val="500"/>
              </a:spcBef>
              <a:defRPr sz="1200" b="1">
                <a:solidFill>
                  <a:srgbClr val="FFFFFF"/>
                </a:solidFill>
                <a:latin typeface="Segoe UI"/>
              </a:defRPr>
            </a:pPr>
            <a:r>
              <a:t>SAM (Serviceable Addressable Market)</a:t>
            </a:r>
          </a:p>
          <a:p>
            <a:pPr algn="ctr">
              <a:spcBef>
                <a:spcPts val="5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Mustaqil va individual ravishda sayohat qiluvchi xalqaro turistlar ulushi.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291840" cy="201168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009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783080"/>
            <a:ext cx="2926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D4AF37"/>
                </a:solidFill>
                <a:latin typeface="Georgia"/>
              </a:defRPr>
            </a:pPr>
            <a:r>
              <a:t>$15M</a:t>
            </a:r>
          </a:p>
          <a:p>
            <a:pPr algn="ctr">
              <a:spcBef>
                <a:spcPts val="500"/>
              </a:spcBef>
              <a:defRPr sz="1200" b="1">
                <a:solidFill>
                  <a:srgbClr val="FFFFFF"/>
                </a:solidFill>
                <a:latin typeface="Segoe UI"/>
              </a:defRPr>
            </a:pPr>
            <a:r>
              <a:t>SOM (Serviceable Obtainable Market)</a:t>
            </a:r>
          </a:p>
          <a:p>
            <a:pPr algn="ctr">
              <a:spcBef>
                <a:spcPts val="5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Dastlabki yillarda platforma orqali qamrab olinadigan tranzaksiyalar hajmi.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10728655" cy="182880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114800"/>
            <a:ext cx="101800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D4AF37"/>
                </a:solidFill>
                <a:latin typeface="Georgia"/>
              </a:defRPr>
            </a:pPr>
            <a:r>
              <a:t>⚔ Raqobat Muhiti va Bizning Ustunligimiz (USP)</a:t>
            </a:r>
          </a:p>
          <a:p>
            <a:pPr>
              <a:defRPr sz="1150">
                <a:solidFill>
                  <a:srgbClr val="94A3B8"/>
                </a:solidFill>
                <a:latin typeface="Segoe UI"/>
              </a:defRPr>
            </a:pPr>
            <a:r>
              <a:t>Raqobatchilarimiz (an'anaviy turoperatorlar va ko'cha taksi xizmatlari) qimmat va rejalari qat'iy belgilangan turlarni taklif qiladilar. Bizning UZBEK-TRIP platformamiz esa sayyohlarga o'z turlarini 100% mustaqil tuzish, shaffof hisoblangan narxni ko'rish, onlayn GPS navigatsiya va n8n yordamida tezkor WhatsApp/SMS tasdiqnomaga ega bo'lish ustunligini beradi.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zbek_mandal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-914400"/>
            <a:ext cx="3200400" cy="320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92240"/>
            <a:ext cx="9601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475569"/>
                </a:solidFill>
                <a:latin typeface="Segoe UI"/>
              </a:defRPr>
            </a:pPr>
            <a:r>
              <a:t>UZBEK-TRIP (SAMARQAND CRAFTOUR)  |  5-DAQIQALIK INVESTOR PITCH DECK</a:t>
            </a:r>
          </a:p>
        </p:txBody>
      </p:sp>
      <p:pic>
        <p:nvPicPr>
          <p:cNvPr id="5" name="Picture 4" descr="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0" y="6309360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D4AF37"/>
                </a:solidFill>
                <a:latin typeface="Georgia"/>
              </a:defRPr>
            </a:pPr>
            <a:r>
              <a:t>JAMOA VA ERISHILGAN NATIJALAR (TRACTION)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11480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45720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D4AF37"/>
                </a:solidFill>
                <a:latin typeface="Georgia"/>
              </a:defRPr>
            </a:pPr>
            <a:r>
              <a:t>👥 Professional Jamoa</a:t>
            </a:r>
          </a:p>
          <a:p>
            <a:pPr>
              <a:spcAft>
                <a:spcPts val="1200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• Muhriddin Bo'riboyev - </a:t>
            </a:r>
            <a:r>
              <a:rPr b="0">
                <a:solidFill>
                  <a:srgbClr val="94A3B8"/>
                </a:solidFill>
              </a:rPr>
              <a:t>Founder &amp; Lead Developer. Next.js, Supabase, OSRM routing va n8n avtomatlashtirish muhandisi.</a:t>
            </a:r>
          </a:p>
          <a:p>
            <a:pPr>
              <a:spcAft>
                <a:spcPts val="1200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• Operatsion Guruh - </a:t>
            </a:r>
            <a:r>
              <a:rPr b="0">
                <a:solidFill>
                  <a:srgbClr val="94A3B8"/>
                </a:solidFill>
              </a:rPr>
              <a:t>Mehmonxonalar integratsiyasi, gidlar va haydovchilar bilan hamkorlik tarmoqlarini muvofiqlashtiruvchi operatsion menejerlar.</a:t>
            </a:r>
          </a:p>
          <a:p>
            <a:pPr>
              <a:spcAft>
                <a:spcPts val="1200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• Lokal Hamkorlar - </a:t>
            </a:r>
            <a:r>
              <a:rPr b="0">
                <a:solidFill>
                  <a:srgbClr val="94A3B8"/>
                </a:solidFill>
              </a:rPr>
              <a:t>Samarqand, Buxoro va Toshkent shaharlaridagi litsenziyalangan gidlar va sertifikatlangan transport uyushmalari.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120640" cy="411480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45720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D4AF37"/>
                </a:solidFill>
                <a:latin typeface="Georgia"/>
              </a:defRPr>
            </a:pPr>
            <a:r>
              <a:t>📈 Erishilgan Natijalar (Traction)</a:t>
            </a:r>
          </a:p>
          <a:p>
            <a:pPr>
              <a:spcAft>
                <a:spcPts val="800"/>
              </a:spcAft>
              <a:defRPr sz="1200" b="1">
                <a:solidFill>
                  <a:srgbClr val="009B9E"/>
                </a:solidFill>
                <a:latin typeface="Segoe UI"/>
              </a:defRPr>
            </a:pPr>
            <a:r>
              <a:t>✔ Ishlovchi MVP: </a:t>
            </a:r>
            <a:r>
              <a:rPr b="0">
                <a:solidFill>
                  <a:srgbClr val="94A3B8"/>
                </a:solidFill>
              </a:rPr>
              <a:t>Veb platformamiz Vercel-ga joylashtirildi va to'liq foydalanishga tayyor: uzbek-trip.vercel.app</a:t>
            </a:r>
          </a:p>
          <a:p>
            <a:pPr>
              <a:spcAft>
                <a:spcPts val="800"/>
              </a:spcAft>
              <a:defRPr sz="1200" b="1">
                <a:solidFill>
                  <a:srgbClr val="009B9E"/>
                </a:solidFill>
                <a:latin typeface="Segoe UI"/>
              </a:defRPr>
            </a:pPr>
            <a:r>
              <a:t>✔ OSRM va GPS Navigatsiyasi: </a:t>
            </a:r>
            <a:r>
              <a:rPr b="0">
                <a:solidFill>
                  <a:srgbClr val="94A3B8"/>
                </a:solidFill>
              </a:rPr>
              <a:t>Xaritada yo'l tarmog'i bo'yicha marshrut hisoblash, live navigatsiya va virtual sayohat simulyatori joriy qilindi.</a:t>
            </a:r>
          </a:p>
          <a:p>
            <a:pPr>
              <a:spcAft>
                <a:spcPts val="800"/>
              </a:spcAft>
              <a:defRPr sz="1200" b="1">
                <a:solidFill>
                  <a:srgbClr val="009B9E"/>
                </a:solidFill>
                <a:latin typeface="Segoe UI"/>
              </a:defRPr>
            </a:pPr>
            <a:r>
              <a:t>✔ n8n Avtomatizatsiyasi: </a:t>
            </a:r>
            <a:r>
              <a:rPr b="0">
                <a:solidFill>
                  <a:srgbClr val="94A3B8"/>
                </a:solidFill>
              </a:rPr>
              <a:t>Sayohat buyurtmalarini operatsion tasdiqlash va haydovchi/gidlarga WhatsApp orqali yetkazish moduli sinovdan o'tdi.</a:t>
            </a:r>
          </a:p>
          <a:p>
            <a:pPr>
              <a:spcAft>
                <a:spcPts val="800"/>
              </a:spcAft>
              <a:defRPr sz="1200" b="1">
                <a:solidFill>
                  <a:srgbClr val="009B9E"/>
                </a:solidFill>
                <a:latin typeface="Segoe UI"/>
              </a:defRPr>
            </a:pPr>
            <a:r>
              <a:t>✔ B2B Hamkorlik Kelishuvlari: </a:t>
            </a:r>
            <a:r>
              <a:rPr b="0">
                <a:solidFill>
                  <a:srgbClr val="94A3B8"/>
                </a:solidFill>
              </a:rPr>
              <a:t>Toshkent va Samarqand shahridagi dastlabki mehmonxonalar va gidlar bilan integratsiya bo'yicha kelishuvlar.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zbek_mandal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-914400"/>
            <a:ext cx="3200400" cy="320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92240"/>
            <a:ext cx="9601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475569"/>
                </a:solidFill>
                <a:latin typeface="Segoe UI"/>
              </a:defRPr>
            </a:pPr>
            <a:r>
              <a:t>UZBEK-TRIP (SAMARQAND CRAFTOUR)  |  5-DAQIQALIK INVESTOR PITCH DECK</a:t>
            </a:r>
          </a:p>
        </p:txBody>
      </p:sp>
      <p:pic>
        <p:nvPicPr>
          <p:cNvPr id="5" name="Picture 4" descr="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0" y="6309360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D4AF37"/>
                </a:solidFill>
                <a:latin typeface="Georgia"/>
              </a:defRPr>
            </a:pPr>
            <a:r>
              <a:t>BIZNES MODEL VA STRATEGIK KELAJAK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291840" cy="411480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29260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D4AF37"/>
                </a:solidFill>
                <a:latin typeface="Georgia"/>
              </a:defRPr>
            </a:pPr>
            <a:r>
              <a:t>Komissiya &amp; Daromad</a:t>
            </a:r>
          </a:p>
          <a:p>
            <a:pPr>
              <a:spcAft>
                <a:spcPts val="1000"/>
              </a:spcAft>
              <a:defRPr sz="2000" b="1">
                <a:solidFill>
                  <a:srgbClr val="009B9E"/>
                </a:solidFill>
                <a:latin typeface="Georgia"/>
              </a:defRPr>
            </a:pPr>
            <a:r>
              <a:t>15% platforma ulushi</a:t>
            </a:r>
          </a:p>
          <a:p>
            <a:pPr>
              <a:spcAft>
                <a:spcPts val="15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Platforma orqali band qilingan har bir transport va gid xizmatlaridan 15% tranzaksion komissiya to'lovi olinadi. O'rtacha buyurtma qiymati $120.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• 15% gid va transport komissiyasi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• Mehmonxona va restoran keshbeklari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291840" cy="411480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828800"/>
            <a:ext cx="29260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D4AF37"/>
                </a:solidFill>
                <a:latin typeface="Georgia"/>
              </a:defRPr>
            </a:pPr>
            <a:r>
              <a:t>UzRailways API Integratsiya</a:t>
            </a:r>
          </a:p>
          <a:p>
            <a:pPr>
              <a:spcAft>
                <a:spcPts val="1000"/>
              </a:spcAft>
              <a:defRPr sz="2000" b="1">
                <a:solidFill>
                  <a:srgbClr val="009B9E"/>
                </a:solidFill>
                <a:latin typeface="Georgia"/>
              </a:defRPr>
            </a:pPr>
            <a:r>
              <a:t>Kelasi reja: chiptalar</a:t>
            </a:r>
          </a:p>
          <a:p>
            <a:pPr>
              <a:spcAft>
                <a:spcPts val="15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Kelgusi oylarda sayyohlar uchun platformaning o'zida Afrosiyob tezyurar poyezdi va avia-chiptalarni birdan xarid qilish tizimi qo'shiladi.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• Afrosiyob poyezd chiptalari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• Lokal aviareys integratsiyasi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291840" cy="411480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828800"/>
            <a:ext cx="29260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D4AF37"/>
                </a:solidFill>
                <a:latin typeface="Georgia"/>
              </a:defRPr>
            </a:pPr>
            <a:r>
              <a:t>Hududiy Kengayish</a:t>
            </a:r>
          </a:p>
          <a:p>
            <a:pPr>
              <a:spcAft>
                <a:spcPts val="1000"/>
              </a:spcAft>
              <a:defRPr sz="2000" b="1">
                <a:solidFill>
                  <a:srgbClr val="009B9E"/>
                </a:solidFill>
                <a:latin typeface="Georgia"/>
              </a:defRPr>
            </a:pPr>
            <a:r>
              <a:t>Kelasi reja: kengayish</a:t>
            </a:r>
          </a:p>
          <a:p>
            <a:pPr>
              <a:spcAft>
                <a:spcPts val="15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Platformani Samarqanddan so'ng Toshkent, Buxoro, Xiva va Qoraqalpog'iston viloyatlariga to'liq moslashtirish va sayohatlarni viloyatlararo ulash.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• Buxoro, Xiva va Toshkent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• Viloyatlararo turlar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zbek_mandal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-914400"/>
            <a:ext cx="3200400" cy="320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92240"/>
            <a:ext cx="9601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475569"/>
                </a:solidFill>
                <a:latin typeface="Segoe UI"/>
              </a:defRPr>
            </a:pPr>
            <a:r>
              <a:t>UZBEK-TRIP (SAMARQAND CRAFTOUR)  |  5-DAQIQALIK INVESTOR PITCH DECK</a:t>
            </a:r>
          </a:p>
        </p:txBody>
      </p:sp>
      <p:pic>
        <p:nvPicPr>
          <p:cNvPr id="5" name="Picture 4" descr="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0" y="6309360"/>
            <a:ext cx="457200" cy="457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828800" y="1371600"/>
            <a:ext cx="8534095" cy="4114800"/>
          </a:xfrm>
          <a:prstGeom prst="rect">
            <a:avLst/>
          </a:prstGeom>
          <a:solidFill>
            <a:srgbClr val="121A2F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1828800"/>
            <a:ext cx="7619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500"/>
              </a:spcAft>
              <a:defRPr sz="3600" b="1">
                <a:solidFill>
                  <a:srgbClr val="D4AF37"/>
                </a:solidFill>
                <a:latin typeface="Georgia"/>
              </a:defRPr>
            </a:pPr>
            <a:r>
              <a:t>KATTA RAHMAT! SAVOLLAR?</a:t>
            </a:r>
          </a:p>
          <a:p>
            <a:pPr algn="ctr">
              <a:spcAft>
                <a:spcPts val="2500"/>
              </a:spcAft>
              <a:defRPr sz="1600">
                <a:solidFill>
                  <a:srgbClr val="FFFFFF"/>
                </a:solidFill>
                <a:latin typeface="Segoe UI"/>
              </a:defRPr>
            </a:pPr>
            <a:r>
              <a:t>O'zbekistonda shaxsiy turizm kelajagini birgalikda barpo etamiz.</a:t>
            </a:r>
          </a:p>
          <a:p>
            <a:pPr algn="ctr">
              <a:spcAft>
                <a:spcPts val="15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📞 Telefon: +998 (94) 019-64-20</a:t>
            </a:r>
            <a:br/>
            <a:r>
              <a:t>📧 Email: mikemukhriddin@gmail.com</a:t>
            </a:r>
            <a:br/>
            <a:r>
              <a:t>🌐 Veb-sayt: uzbek-trip.vercel.app</a:t>
            </a:r>
          </a:p>
          <a:p>
            <a:pPr algn="ctr">
              <a:defRPr sz="1300" b="1" i="1">
                <a:solidFill>
                  <a:srgbClr val="009B9E"/>
                </a:solidFill>
                <a:latin typeface="Segoe UI"/>
              </a:defRPr>
            </a:pPr>
            <a:r>
              <a:t>5 daqiqada qisqa va lo'nda javob berishga tayyormiz!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