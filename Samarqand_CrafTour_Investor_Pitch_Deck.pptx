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43000"/>
            <a:ext cx="4572000" cy="457200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1680"/>
            <a:ext cx="5669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400" b="1">
                <a:solidFill>
                  <a:srgbClr val="D4AF37"/>
                </a:solidFill>
                <a:latin typeface="Georgia"/>
              </a:defRPr>
            </a:pPr>
            <a:r>
              <a:t>UZBEK-TRIP</a:t>
            </a:r>
            <a:br/>
            <a:r>
              <a:t>PLATFORMASI</a:t>
            </a:r>
          </a:p>
          <a:p>
            <a:pPr algn="l">
              <a:spcBef>
                <a:spcPts val="10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Menejment, Marketing, Audit va Iqtisodiyot</a:t>
            </a:r>
          </a:p>
          <a:p>
            <a:pPr algn="l">
              <a:spcBef>
                <a:spcPts val="15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Sayohatlarni real vaqtda rejalashtirish, GPS navigatsiyasi, n8n avtomatizatsiyasi hamda hamkorlar uchun unit-iqtisodiy yechimlar ekotizimi.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B9E"/>
                </a:solidFill>
                <a:latin typeface="Segoe UI"/>
              </a:defRPr>
            </a:pPr>
            <a:r>
              <a:t>BIZNES HAMKORLAR VA INVESTORLAR UCHUN TAQDIMOT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BOZOR MUAMMOLARI VA IMKONIYAT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B9E"/>
                </a:solidFill>
                <a:latin typeface="Georgia"/>
              </a:defRPr>
            </a:pPr>
            <a:r>
              <a:t>01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D4AF37"/>
                </a:solidFill>
                <a:latin typeface="Georgia"/>
              </a:defRPr>
            </a:pPr>
            <a:r>
              <a:t>Tashkiliy Qiyinchiliklar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Sayyohlar gidlar, haydovchilar va marshrutlarni turli joylardan qidirishga majbur. Yagona, tezkor va ishonchli buyurtma berish vositasi mavjud emas.</a:t>
            </a:r>
          </a:p>
          <a:p>
            <a:pPr>
              <a:defRPr sz="1100" i="1">
                <a:solidFill>
                  <a:srgbClr val="475569"/>
                </a:solidFill>
                <a:latin typeface="Segoe UI"/>
              </a:defRPr>
            </a:pPr>
            <a:r>
              <a:t>Operatsion menejmentning parchalanganligi.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B9E"/>
                </a:solidFill>
                <a:latin typeface="Georgia"/>
              </a:defRPr>
            </a:pPr>
            <a:r>
              <a:t>02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D4AF37"/>
                </a:solidFill>
                <a:latin typeface="Georgia"/>
              </a:defRPr>
            </a:pPr>
            <a:r>
              <a:t>Shaffof Emas Narxlar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Turizm bozorida narxlar sun'iy oshirilgan. Sayyoh oldindan aniq xizmatlar uchun qancha pul to'lashini va narx qanday shakllanishini ko'ra olmaydi.</a:t>
            </a:r>
          </a:p>
          <a:p>
            <a:pPr>
              <a:defRPr sz="1100" i="1">
                <a:solidFill>
                  <a:srgbClr val="475569"/>
                </a:solidFill>
                <a:latin typeface="Segoe UI"/>
              </a:defRPr>
            </a:pPr>
            <a:r>
              <a:t>Yashirin komissiyalar va noaniqlik.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B9E"/>
                </a:solidFill>
                <a:latin typeface="Georgia"/>
              </a:defRPr>
            </a:pPr>
            <a:r>
              <a:t>03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D4AF37"/>
                </a:solidFill>
                <a:latin typeface="Georgia"/>
              </a:defRPr>
            </a:pPr>
            <a:r>
              <a:t>Sifat va Audit Kamchiligi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Haydovchi va gidlarning sifati oldindan tekshirilmaydi. Xavfsizlik va xizmat darajasi kafolatlanmaganligi sayyohlar ishonchini yo'qotadi.</a:t>
            </a:r>
          </a:p>
          <a:p>
            <a:pPr>
              <a:defRPr sz="1100" i="1">
                <a:solidFill>
                  <a:srgbClr val="475569"/>
                </a:solidFill>
                <a:latin typeface="Segoe UI"/>
              </a:defRPr>
            </a:pPr>
            <a:r>
              <a:t>Audit va reyting tizimining yo'qligi.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OPERATSION MENEJMENT VA STRUKTURA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Samarali Boshqaruv Model</a:t>
            </a:r>
          </a:p>
          <a:p>
            <a:pPr>
              <a:spcAft>
                <a:spcPts val="15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Inson omilini kamaytirgan holda, platforma barcha buyurtmalar, haydovchilar va gidlar faoliyatini markazlashgan boshqaruv paneli orqali nazorat qiladi.</a:t>
            </a:r>
          </a:p>
          <a:p>
            <a:pPr>
              <a:defRPr sz="1200">
                <a:solidFill>
                  <a:srgbClr val="009B9E"/>
                </a:solidFill>
                <a:latin typeface="Segoe UI"/>
              </a:defRPr>
            </a:pPr>
            <a:r>
              <a:t>Barcha jarayonlar avtomatlashtirilgan bo'lib, dispetcherlar va operatsion xodimlarga bo'lgan ehtiyojni 90% gacha kamaytiradi.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645920"/>
            <a:ext cx="6126480" cy="11887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73736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🚗 Haydovchilar Menejmenti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Avtomobillar sig'imi, turi (sedan, minivan, avtobus) va yo'nalish tariflari bo'yicha real vaqtda avtomatik boshqaruv va band qilish.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017520"/>
            <a:ext cx="6126480" cy="11887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310896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🗣 Gidlar Boshqaruvi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Gidlar o'z tillari (EN, RU, ES, FR, UZ) va bandlik kalendarlari asosida tizimga integratsiya qilingan.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389120"/>
            <a:ext cx="6126480" cy="11887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448056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📊 Admin Dashboard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Platforma ma'murlari uchun barcha faol turlarni kuzatish, kelib tushgan to'lovlarni nazorat qilish va hisobotlarni shakllantirish paneli.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MARKETING VA MIJOZLARNI JALB QILISH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B9E"/>
                </a:solidFill>
                <a:latin typeface="Segoe UI"/>
              </a:defRPr>
            </a:pPr>
            <a:r>
              <a:t>B2C RAQAMLI MARKETING</a:t>
            </a:r>
          </a:p>
          <a:p>
            <a:pPr algn="ctr">
              <a:spcBef>
                <a:spcPts val="1000"/>
              </a:spcBef>
              <a:spcAft>
                <a:spcPts val="1000"/>
              </a:spcAft>
              <a:defRPr sz="3200"/>
            </a:pPr>
            <a:r>
              <a:t>📱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D4AF37"/>
                </a:solidFill>
                <a:latin typeface="Georgia"/>
              </a:defRPr>
            </a:pPr>
            <a:r>
              <a:t>Target Reklama &amp; SEO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Google Ads, Instagram va Facebook orqali O'zbekistonga sayohat rejalashtirayotgan xorijiy sayyohlarni maqsadli jalb qilish. Saytning xalqaro SEO optimallashtirilishi organik trafikni oshiradi.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B9E"/>
                </a:solidFill>
                <a:latin typeface="Segoe UI"/>
              </a:defRPr>
            </a:pPr>
            <a:r>
              <a:t>B2B HAMKORLIK</a:t>
            </a:r>
          </a:p>
          <a:p>
            <a:pPr algn="ctr">
              <a:spcBef>
                <a:spcPts val="1000"/>
              </a:spcBef>
              <a:spcAft>
                <a:spcPts val="1000"/>
              </a:spcAft>
              <a:defRPr sz="3200"/>
            </a:pPr>
            <a:r>
              <a:t>🏨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D4AF37"/>
                </a:solidFill>
                <a:latin typeface="Georgia"/>
              </a:defRPr>
            </a:pPr>
            <a:r>
              <a:t>Mehmonxonalar va Hostellar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Samarqand va Toshkentdagi 50+ yirik mehmonxonalar bilan hamkorlik shartnomalari. Har bir xonada platformaga yo'naltiruvchi maxsus QR-kod stikerlari o'rnatiladi.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B9E"/>
                </a:solidFill>
                <a:latin typeface="Segoe UI"/>
              </a:defRPr>
            </a:pPr>
            <a:r>
              <a:t>INFLUENCER MARKETING</a:t>
            </a:r>
          </a:p>
          <a:p>
            <a:pPr algn="ctr">
              <a:spcBef>
                <a:spcPts val="1000"/>
              </a:spcBef>
              <a:spcAft>
                <a:spcPts val="1000"/>
              </a:spcAft>
              <a:defRPr sz="3200"/>
            </a:pPr>
            <a:r>
              <a:t>🗣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D4AF37"/>
                </a:solidFill>
                <a:latin typeface="Georgia"/>
              </a:defRPr>
            </a:pPr>
            <a:r>
              <a:t>Sayohat Blogerlari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Chet ellik taniqli travel-blogerlarni taklif qilish va ularning real sayohatlarini xaritada jonli kuzatish (live tracking) orqali virusli marketing kampaniyalarini amalga oshirish.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AUDIT VA SIFAT NAZORATI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Kafolatlangan Sifat</a:t>
            </a:r>
          </a:p>
          <a:p>
            <a:pPr>
              <a:spcAft>
                <a:spcPts val="15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Sayohat davomida eng yuqori darajada xavfsizlik va xizmat sifatini ta'minlash maqsadida platformamizda ko'p bosqichli audit tizimi joriy qilingan.</a:t>
            </a:r>
          </a:p>
          <a:p>
            <a:pPr>
              <a:defRPr sz="1200">
                <a:solidFill>
                  <a:srgbClr val="009B9E"/>
                </a:solidFill>
                <a:latin typeface="Segoe UI"/>
              </a:defRPr>
            </a:pPr>
            <a:r>
              <a:t>Har bir haydovchi va gid muntazam tekshiruvdan o'tkaziladi.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645920"/>
            <a:ext cx="6126480" cy="11887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73736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🔒 OTP Tasdiqlash &amp; Anti-Fraud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Buyurtmani rasmiylashtirishda email/WhatsApp orqali majburiy OTP kod kiritiladi. Bu soxta buyurtmalarni 100% oldini oladi.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017520"/>
            <a:ext cx="6126480" cy="11887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310896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🚗 Avtotransport Texnik Auditi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Hamkorlikdagi barcha transport vositalari konditsioner, tozalik va xavfsizlik kamarlari bo'yicha yillik texnik auditdan o'tadi.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389120"/>
            <a:ext cx="6126480" cy="11887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448056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🗣 Gidlar Litsenziya Nazorati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Tizimga faqat davlat tomonidan litsenziyalangan, chet tillarini bilish darajasi tasdiqlangan professional gidlar jalb etiladi.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IQTISODIY YONDASHUV VA UNIT-IQTISODIYOT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  <a:latin typeface="Georgia"/>
              </a:defRPr>
            </a:pPr>
            <a:r>
              <a:t>15%</a:t>
            </a:r>
          </a:p>
          <a:p>
            <a:pPr algn="ctr">
              <a:spcBef>
                <a:spcPts val="5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Platforma Komissiyasi</a:t>
            </a:r>
          </a:p>
          <a:p>
            <a:pPr algn="ctr">
              <a:spcBef>
                <a:spcPts val="5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Gidlar, haydovchilar va restoranlar to'lovlaridan platforma foydasi.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  <a:latin typeface="Georgia"/>
              </a:defRPr>
            </a:pPr>
            <a:r>
              <a:t>$120</a:t>
            </a:r>
          </a:p>
          <a:p>
            <a:pPr algn="ctr">
              <a:spcBef>
                <a:spcPts val="5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O'rtacha Buyurtma Narxi</a:t>
            </a:r>
          </a:p>
          <a:p>
            <a:pPr algn="ctr">
              <a:spcBef>
                <a:spcPts val="5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1 sayohat davomida bitta sayyoh tomonidan transport va gidlar uchun qilinadigan xarajat.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  <a:latin typeface="Georgia"/>
              </a:defRPr>
            </a:pPr>
            <a:r>
              <a:t>$18</a:t>
            </a:r>
          </a:p>
          <a:p>
            <a:pPr algn="ctr">
              <a:spcBef>
                <a:spcPts val="5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Mijozdan Olinadigan Sof Foyda</a:t>
            </a:r>
          </a:p>
          <a:p>
            <a:pPr algn="ctr">
              <a:spcBef>
                <a:spcPts val="5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Har bir jalb etilgan sayyohdan komissiya hisobiga platformaga tushadigan o'rtacha foyda.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1828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1800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D4AF37"/>
                </a:solidFill>
                <a:latin typeface="Georgia"/>
              </a:defRPr>
            </a:pPr>
            <a:r>
              <a:t>🎯 Past CAC (Mijozni jalb qilish narxi) va Yuqori ROI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Bizning marketing modelimiz bevosita mehmonxonalar, QR-kod integratsiyalari va organik qidiruvga asoslangan. Shu sababli mijozni jalb qilish tannarxi (CAC) o'rtacha $2-$3 ni tashkil etadi. Bu esa har bir buyurtmadan kamida 6 barobar sof daromad (ROI) olishni ta'minlaydi.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MOLIYAVIY PROYEKSIYALAR VA KO'RSATKICHLAR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4AF37"/>
                </a:solidFill>
                <a:latin typeface="Georgia"/>
              </a:defRPr>
            </a:pPr>
            <a:r>
              <a:t>2026-yil (Samarqand)</a:t>
            </a:r>
          </a:p>
          <a:p>
            <a:pPr>
              <a:spcAft>
                <a:spcPts val="1000"/>
              </a:spcAft>
              <a:defRPr sz="2200" b="1">
                <a:solidFill>
                  <a:srgbClr val="009B9E"/>
                </a:solidFill>
                <a:latin typeface="Georgia"/>
              </a:defRPr>
            </a:pPr>
            <a:r>
              <a:t>$150,000</a:t>
            </a:r>
          </a:p>
          <a:p>
            <a:pPr>
              <a:spcAft>
                <a:spcPts val="1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Samarqand shahrida loyihani to'liq yo'lga qo'yish va 10,000 dan ortiq turlarni muvaffaqiyatli band qilish.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150+ gid va haydovchilar tarmog'i.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O'rtacha aylanma: $1.2 Million.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4AF37"/>
                </a:solidFill>
                <a:latin typeface="Georgia"/>
              </a:defRPr>
            </a:pPr>
            <a:r>
              <a:t>2027-yil (Kengayish)</a:t>
            </a:r>
          </a:p>
          <a:p>
            <a:pPr>
              <a:spcAft>
                <a:spcPts val="1000"/>
              </a:spcAft>
              <a:defRPr sz="2200" b="1">
                <a:solidFill>
                  <a:srgbClr val="009B9E"/>
                </a:solidFill>
                <a:latin typeface="Georgia"/>
              </a:defRPr>
            </a:pPr>
            <a:r>
              <a:t>$600,000</a:t>
            </a:r>
          </a:p>
          <a:p>
            <a:pPr>
              <a:spcAft>
                <a:spcPts val="1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Toshkent, Buxoro, Xiva va Qoraqalpog'iston shaharlarini integratsiya qilish hamda turlarni ko'paytirish.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600+ gid va haydovchilar tarmog'i.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B2B va mehmonxonalar bilan hamkorlik.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4AF37"/>
                </a:solidFill>
                <a:latin typeface="Georgia"/>
              </a:defRPr>
            </a:pPr>
            <a:r>
              <a:t>2028-yil (Milliy Lider)</a:t>
            </a:r>
          </a:p>
          <a:p>
            <a:pPr>
              <a:spcAft>
                <a:spcPts val="1000"/>
              </a:spcAft>
              <a:defRPr sz="2200" b="1">
                <a:solidFill>
                  <a:srgbClr val="009B9E"/>
                </a:solidFill>
                <a:latin typeface="Georgia"/>
              </a:defRPr>
            </a:pPr>
            <a:r>
              <a:t>$1,800,000</a:t>
            </a:r>
          </a:p>
          <a:p>
            <a:pPr>
              <a:spcAft>
                <a:spcPts val="1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O'zbekistondagi eng yirik mustaqil shaxsiy sayohat konstruktoriga aylanish va super-app integratsiyasi.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2,000+ hamkorlar tarmog'i.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Afrosiyob chiptalari va mehmonxona bron.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TEXNOLOGIK STACK VA AVTOMATIZATSIYA (N8N)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D4AF37"/>
                </a:solidFill>
                <a:latin typeface="Georgia"/>
              </a:defRPr>
            </a:pPr>
            <a:r>
              <a:t>💻 Platforma Stacki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Next.js 16 (App Router): </a:t>
            </a:r>
            <a:r>
              <a:rPr b="0">
                <a:solidFill>
                  <a:srgbClr val="94A3B8"/>
                </a:solidFill>
              </a:rPr>
              <a:t>Tez yuklanish, SEO optimallik va yuqori xavfsizlik.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Supabase (PostgreSQL): </a:t>
            </a:r>
            <a:r>
              <a:rPr b="0">
                <a:solidFill>
                  <a:srgbClr val="94A3B8"/>
                </a:solidFill>
              </a:rPr>
              <a:t>Ma'lumotlar xavfsizligi va real vaqtdagi gid/transport bazasi.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Leaflet.js Maps: </a:t>
            </a:r>
            <a:r>
              <a:rPr b="0">
                <a:solidFill>
                  <a:srgbClr val="94A3B8"/>
                </a:solidFill>
              </a:rPr>
              <a:t>Bepul va ochiq kodli xarita tizimi (Google Maps uchun ortiqcha to'lov yo'q).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OTP Verification System: </a:t>
            </a:r>
            <a:r>
              <a:rPr b="0">
                <a:solidFill>
                  <a:srgbClr val="94A3B8"/>
                </a:solidFill>
              </a:rPr>
              <a:t>Aloqa xavfsizligi va buyurtmani vaucher ko'rinishida yuborish.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D4AF37"/>
                </a:solidFill>
                <a:latin typeface="Georgia"/>
              </a:defRPr>
            </a:pPr>
            <a:r>
              <a:t>⚡ n8n va WhatsApp Avtomatizatsiyasi</a:t>
            </a:r>
          </a:p>
          <a:p>
            <a:pPr>
              <a:spcAft>
                <a:spcPts val="1000"/>
              </a:spcAft>
              <a:defRPr sz="1200" b="1">
                <a:solidFill>
                  <a:srgbClr val="009B9E"/>
                </a:solidFill>
                <a:latin typeface="Segoe UI"/>
              </a:defRPr>
            </a:pPr>
            <a:r>
              <a:t>• n8n workflow integratsiyasi — </a:t>
            </a:r>
            <a:r>
              <a:rPr b="0">
                <a:solidFill>
                  <a:srgbClr val="94A3B8"/>
                </a:solidFill>
              </a:rPr>
              <a:t>Buyurtmalar boshqaruvi va monitoringi n8n platformasiga ulangan.</a:t>
            </a:r>
          </a:p>
          <a:p>
            <a:pPr>
              <a:spcAft>
                <a:spcPts val="1000"/>
              </a:spcAft>
              <a:defRPr sz="1200" b="1">
                <a:solidFill>
                  <a:srgbClr val="009B9E"/>
                </a:solidFill>
                <a:latin typeface="Segoe UI"/>
              </a:defRPr>
            </a:pPr>
            <a:r>
              <a:t>• Avtomatik xabar yetkazish — </a:t>
            </a:r>
            <a:r>
              <a:rPr b="0">
                <a:solidFill>
                  <a:srgbClr val="94A3B8"/>
                </a:solidFill>
              </a:rPr>
              <a:t>Sayyoh buyurtmani tasdiqlagach, haydovchi va gidning WhatsApp / Telegramiga darhol xabar ketadi.</a:t>
            </a:r>
          </a:p>
          <a:p>
            <a:pPr>
              <a:spcAft>
                <a:spcPts val="1000"/>
              </a:spcAft>
              <a:defRPr sz="1200" b="1">
                <a:solidFill>
                  <a:srgbClr val="009B9E"/>
                </a:solidFill>
                <a:latin typeface="Segoe UI"/>
              </a:defRPr>
            </a:pPr>
            <a:r>
              <a:t>• Marshrut va aloqa ma'lumotlari — </a:t>
            </a:r>
            <a:r>
              <a:rPr b="0">
                <a:solidFill>
                  <a:srgbClr val="94A3B8"/>
                </a:solidFill>
              </a:rPr>
              <a:t>Xabarda sayyohning to'liq marshruti, poyezd/samolyot kelish vaqti va telefon raqami avtomatik taqdim etiladi.</a:t>
            </a:r>
          </a:p>
          <a:p>
            <a:pPr>
              <a:spcAft>
                <a:spcPts val="1000"/>
              </a:spcAft>
              <a:defRPr sz="1200" b="1">
                <a:solidFill>
                  <a:srgbClr val="009B9E"/>
                </a:solidFill>
                <a:latin typeface="Segoe UI"/>
              </a:defRPr>
            </a:pPr>
            <a:r>
              <a:t>• Operatsion xarajatlarni 90% kamaytirish — </a:t>
            </a:r>
            <a:r>
              <a:rPr b="0">
                <a:solidFill>
                  <a:srgbClr val="94A3B8"/>
                </a:solidFill>
              </a:rPr>
              <a:t>Menejerlarning qo'lda aloqa qilish vaqtini tejaydi, inson omilini kamaytiradi.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ERISHILGAN MUVAFFAQIYATLAR VA KOD TAYYORLIGI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9B9E"/>
                </a:solidFill>
                <a:latin typeface="Segoe UI"/>
              </a:defRPr>
            </a:pPr>
            <a:r>
              <a:t>LOYIHANING BUGUNGI HOLATI</a:t>
            </a:r>
          </a:p>
          <a:p>
            <a:pPr>
              <a:spcAft>
                <a:spcPts val="1500"/>
              </a:spcAft>
              <a:defRPr sz="3600" b="1">
                <a:solidFill>
                  <a:srgbClr val="D4AF37"/>
                </a:solidFill>
                <a:latin typeface="Georgia"/>
              </a:defRPr>
            </a:pPr>
            <a:r>
              <a:t>Tayyor va Ishlovchi MVP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Platformaning veb-versiyasi ishlab chiqildi va barcha asosiy funksiyalar kod darajasida tayyorlandi:</a:t>
            </a:r>
          </a:p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Segoe UI"/>
              </a:defRPr>
            </a:pPr>
            <a:r>
              <a:t>✔ Vercel Live-demo — </a:t>
            </a:r>
            <a:r>
              <a:rPr b="0">
                <a:solidFill>
                  <a:srgbClr val="94A3B8"/>
                </a:solidFill>
              </a:rPr>
              <a:t>Loyiha muvaffaqiyatli bulutga yuklandi va testdan o'tdi.</a:t>
            </a:r>
          </a:p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Segoe UI"/>
              </a:defRPr>
            </a:pPr>
            <a:r>
              <a:t>✔ OSRM Routing — </a:t>
            </a:r>
            <a:r>
              <a:rPr b="0">
                <a:solidFill>
                  <a:srgbClr val="94A3B8"/>
                </a:solidFill>
              </a:rPr>
              <a:t>Haqiqiy avtomobil yo'llari bo'yicha navigatsiya chizig'i ishlaydi.</a:t>
            </a:r>
          </a:p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Segoe UI"/>
              </a:defRPr>
            </a:pPr>
            <a:r>
              <a:t>✔ Jonli GPS Navigatsiyasi — </a:t>
            </a:r>
            <a:r>
              <a:rPr b="0">
                <a:solidFill>
                  <a:srgbClr val="94A3B8"/>
                </a:solidFill>
              </a:rPr>
              <a:t>Foydalanuvchi joylashuvini live ko'rsatish funksiyasi tayyor.</a:t>
            </a:r>
          </a:p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Segoe UI"/>
              </a:defRPr>
            </a:pPr>
            <a:r>
              <a:t>✔ Simulyatsiya rejimi (Demo) — </a:t>
            </a:r>
            <a:r>
              <a:rPr b="0">
                <a:solidFill>
                  <a:srgbClr val="94A3B8"/>
                </a:solidFill>
              </a:rPr>
              <a:t>Virtual haydovchining harakatlanishini kuzatish imkoniyati.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45920"/>
            <a:ext cx="548640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D4AF37"/>
                </a:solidFill>
                <a:latin typeface="Georgia"/>
              </a:defRPr>
            </a:pPr>
            <a:r>
              <a:t>📈 Keyingi 3 Oylik Reja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⚡ Mehmonxonalarga QR-kodlarni taqsimlashni boshlash.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⚡ Samarqand shahridagi 50 ta yetakchi gid va 30 ta haydovchini tizimga ro'yxatga olish.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⚡ Restoranlar va eko-turizm nuqtalari bilan keshbek shartnomalarini tuzish.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⚡ Ilk 1,000 ta muvaffaqiyatli buyurtmani yakunlash.</a:t>
            </a:r>
          </a:p>
          <a:p>
            <a:pPr>
              <a:spcBef>
                <a:spcPts val="2000"/>
              </a:spcBef>
              <a:defRPr sz="1300" b="1">
                <a:solidFill>
                  <a:srgbClr val="009B9E"/>
                </a:solidFill>
                <a:latin typeface="Segoe UI"/>
              </a:defRPr>
            </a:pPr>
            <a:r>
              <a:t>Veb-sayt: uzbek-trip.vercel.app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KELAJAKDAGI STRATEGIK REJALAR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B9E"/>
                </a:solidFill>
                <a:latin typeface="Georgia"/>
              </a:defRPr>
            </a:pPr>
            <a:r>
              <a:t>01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700" b="1">
                <a:solidFill>
                  <a:srgbClr val="D4AF37"/>
                </a:solidFill>
                <a:latin typeface="Georgia"/>
              </a:defRPr>
            </a:pPr>
            <a:r>
              <a:t>UzRailways Integratsiyasi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Platforma ichida Afrosiyob tezyurar poyezdi chiptalarini avtomatik sotish tizimini yo'lga qo'yish (UzRailways API orqali).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Maqsad: Poyezd Chiptalari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B9E"/>
                </a:solidFill>
                <a:latin typeface="Georgia"/>
              </a:defRPr>
            </a:pPr>
            <a:r>
              <a:t>02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700" b="1">
                <a:solidFill>
                  <a:srgbClr val="D4AF37"/>
                </a:solidFill>
                <a:latin typeface="Georgia"/>
              </a:defRPr>
            </a:pPr>
            <a:r>
              <a:t>Milliy Avia-chiptalar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Xalqaro va ichki reys chiptalarini dynamic ravishda platformaga ulash. Sayohat konstruktorida poyezd + samolyot integratsiyasi.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Maqsad: Aviakompaniyalar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9B9E"/>
                </a:solidFill>
                <a:latin typeface="Georgia"/>
              </a:defRPr>
            </a:pPr>
            <a:r>
              <a:t>03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700" b="1">
                <a:solidFill>
                  <a:srgbClr val="D4AF37"/>
                </a:solidFill>
                <a:latin typeface="Georgia"/>
              </a:defRPr>
            </a:pPr>
            <a:r>
              <a:t>Ovozli Navigatsiya</a:t>
            </a:r>
          </a:p>
          <a:p>
            <a:pPr>
              <a:spcAft>
                <a:spcPts val="15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Sayyohlar tarixiy obidalarda yurganda avtomatik ishga tushadigan localized ovozli audioprezentatsiya (multilingual voice guidance).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Maqsad: Smart Audio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Georgia"/>
              </a:defRPr>
            </a:pPr>
            <a:r>
              <a:t>INVESTITSIYA TAKLIFI VA BUDJET TAQSIMOTI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9B9E"/>
                </a:solidFill>
                <a:latin typeface="Segoe UI"/>
              </a:defRPr>
            </a:pPr>
            <a:r>
              <a:t>MOLIYAVIY EHTIYOJ</a:t>
            </a:r>
          </a:p>
          <a:p>
            <a:pPr>
              <a:spcAft>
                <a:spcPts val="1500"/>
              </a:spcAft>
              <a:defRPr sz="3600" b="1">
                <a:solidFill>
                  <a:srgbClr val="D4AF37"/>
                </a:solidFill>
                <a:latin typeface="Georgia"/>
              </a:defRPr>
            </a:pPr>
            <a:r>
              <a:t>$100,000 Seed Round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Ushbu sarmoya loyihaning operatsion faoliyatini kengaytirish va 1 yillik rivojlanish bosqichlari uchun sarflanadi.</a:t>
            </a:r>
          </a:p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Segoe UI"/>
              </a:defRPr>
            </a:pPr>
            <a:r>
              <a:t>✔ Dasturiy Rivojlanish (40%): </a:t>
            </a:r>
            <a:r>
              <a:rPr b="0">
                <a:solidFill>
                  <a:srgbClr val="94A3B8"/>
                </a:solidFill>
              </a:rPr>
              <a:t>iOS / Android mobil ilovalarini tayyorlash.</a:t>
            </a:r>
          </a:p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Segoe UI"/>
              </a:defRPr>
            </a:pPr>
            <a:r>
              <a:t>✔ Marketing va Jalb Etish (35%): </a:t>
            </a:r>
            <a:r>
              <a:rPr b="0">
                <a:solidFill>
                  <a:srgbClr val="94A3B8"/>
                </a:solidFill>
              </a:rPr>
              <a:t>B2C va B2B mehmonxona kampaniyalari.</a:t>
            </a:r>
          </a:p>
          <a:p>
            <a:pPr>
              <a:spcAft>
                <a:spcPts val="500"/>
              </a:spcAft>
              <a:defRPr sz="1200" b="1">
                <a:solidFill>
                  <a:srgbClr val="D4AF37"/>
                </a:solidFill>
                <a:latin typeface="Segoe UI"/>
              </a:defRPr>
            </a:pPr>
            <a:r>
              <a:t>✔ Operatsion Xarajatlar (25%): </a:t>
            </a:r>
            <a:r>
              <a:rPr b="0">
                <a:solidFill>
                  <a:srgbClr val="94A3B8"/>
                </a:solidFill>
              </a:rPr>
              <a:t>Haydovchilar auditini o'tkazish va ofis faoliyati.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45920"/>
            <a:ext cx="5486400" cy="411480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D4AF37"/>
                </a:solidFill>
                <a:latin typeface="Georgia"/>
              </a:defRPr>
            </a:pPr>
            <a:r>
              <a:t>🤝 Hamkorlik Shartlari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⚡ 10-15% gacha ulush (Equity) investitsiya evaziga.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⚡ Mehmonxonalar va restorantlar uchun B2B hamkorlikda alohida referral / keshbek tizimi.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⚡ Tezyurar poyezd va aviabiletlar integratsiyasida qo'shma aksiyalar va hamkorlik imkoniyatlari.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⚡ Strategik boshqaruv kengashida ishtirok etish huquqi.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zbek_manda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914400"/>
            <a:ext cx="3200400" cy="320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UZBEK-TRIP (SAMARQAND CRAFTOUR)  |  HAMKORLIK TAQDIMOTI 2026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309360"/>
            <a:ext cx="457200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0" y="1371600"/>
            <a:ext cx="8534095" cy="4114800"/>
          </a:xfrm>
          <a:prstGeom prst="rect">
            <a:avLst/>
          </a:prstGeom>
          <a:solidFill>
            <a:srgbClr val="121A2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600" b="1">
                <a:solidFill>
                  <a:srgbClr val="D4AF37"/>
                </a:solidFill>
                <a:latin typeface="Georgia"/>
              </a:defRPr>
            </a:pPr>
            <a:r>
              <a:t>KATTA RAHMAT!</a:t>
            </a:r>
          </a:p>
          <a:p>
            <a:pPr algn="ctr">
              <a:spcAft>
                <a:spcPts val="25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O'zbekistonda Zamonaviy va Shaxsiy Turizm Ekotizimini Birgalikda Yarataylik.</a:t>
            </a:r>
          </a:p>
          <a:p>
            <a:pPr algn="ctr">
              <a:spcAft>
                <a:spcPts val="15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📞 Aloqa: +998 (94) 019-64-20</a:t>
            </a:r>
            <a:br/>
            <a:r>
              <a:t>📧 Email: mikemukhriddin@gmail.com</a:t>
            </a:r>
            <a:br/>
            <a:r>
              <a:t>🌐 Veb-sayt: uzbek-trip.vercel.app</a:t>
            </a:r>
          </a:p>
          <a:p>
            <a:pPr algn="ctr">
              <a:defRPr sz="1300" b="1" i="1">
                <a:solidFill>
                  <a:srgbClr val="009B9E"/>
                </a:solidFill>
                <a:latin typeface="Segoe UI"/>
              </a:defRPr>
            </a:pPr>
            <a:r>
              <a:t>Savollar bormi? Biz har qanday hamkorlikka tayyormiz!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